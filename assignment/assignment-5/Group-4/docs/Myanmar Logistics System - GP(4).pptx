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Now Bold" charset="1" panose="00000800000000000000"/>
      <p:regular r:id="rId14"/>
    </p:embeddedFont>
    <p:embeddedFont>
      <p:font typeface="Open Sauce Semi-Bold" charset="1" panose="00000700000000000000"/>
      <p:regular r:id="rId15"/>
    </p:embeddedFont>
    <p:embeddedFont>
      <p:font typeface="Now" charset="1" panose="00000500000000000000"/>
      <p:regular r:id="rId16"/>
    </p:embeddedFont>
    <p:embeddedFont>
      <p:font typeface="Open Sauce" charset="1" panose="00000500000000000000"/>
      <p:regular r:id="rId17"/>
    </p:embeddedFont>
    <p:embeddedFont>
      <p:font typeface="Open Sauce Bold" charset="1" panose="00000800000000000000"/>
      <p:regular r:id="rId18"/>
    </p:embeddedFont>
    <p:embeddedFont>
      <p:font typeface="Now Medium" charset="1" panose="00000600000000000000"/>
      <p:regular r:id="rId19"/>
    </p:embeddedFont>
    <p:embeddedFont>
      <p:font typeface="Now Heavy" charset="1" panose="00000A00000000000000"/>
      <p:regular r:id="rId20"/>
    </p:embeddedFont>
    <p:embeddedFont>
      <p:font typeface="Aileron" charset="1" panose="00000500000000000000"/>
      <p:regular r:id="rId21"/>
    </p:embeddedFont>
    <p:embeddedFont>
      <p:font typeface="Aileron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14" Target="../media/image24.png" Type="http://schemas.openxmlformats.org/officeDocument/2006/relationships/image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13" Target="../media/image36.png" Type="http://schemas.openxmlformats.org/officeDocument/2006/relationships/image"/><Relationship Id="rId14" Target="../media/image37.png" Type="http://schemas.openxmlformats.org/officeDocument/2006/relationships/image"/><Relationship Id="rId15" Target="../media/image38.png" Type="http://schemas.openxmlformats.org/officeDocument/2006/relationships/image"/><Relationship Id="rId16" Target="../media/image39.png" Type="http://schemas.openxmlformats.org/officeDocument/2006/relationships/image"/><Relationship Id="rId17" Target="../media/image40.png" Type="http://schemas.openxmlformats.org/officeDocument/2006/relationships/image"/><Relationship Id="rId18" Target="../media/image41.png" Type="http://schemas.openxmlformats.org/officeDocument/2006/relationships/image"/><Relationship Id="rId19" Target="../media/image42.png" Type="http://schemas.openxmlformats.org/officeDocument/2006/relationships/image"/><Relationship Id="rId2" Target="../media/image25.png" Type="http://schemas.openxmlformats.org/officeDocument/2006/relationships/image"/><Relationship Id="rId20" Target="../media/image43.png" Type="http://schemas.openxmlformats.org/officeDocument/2006/relationships/image"/><Relationship Id="rId21" Target="../media/image44.png" Type="http://schemas.openxmlformats.org/officeDocument/2006/relationships/image"/><Relationship Id="rId22" Target="../media/image45.png" Type="http://schemas.openxmlformats.org/officeDocument/2006/relationships/image"/><Relationship Id="rId23" Target="../media/image46.png" Type="http://schemas.openxmlformats.org/officeDocument/2006/relationships/image"/><Relationship Id="rId24" Target="../media/image47.png" Type="http://schemas.openxmlformats.org/officeDocument/2006/relationships/image"/><Relationship Id="rId25" Target="../media/image48.png" Type="http://schemas.openxmlformats.org/officeDocument/2006/relationships/image"/><Relationship Id="rId26" Target="../media/image49.png" Type="http://schemas.openxmlformats.org/officeDocument/2006/relationships/image"/><Relationship Id="rId27" Target="../media/image50.png" Type="http://schemas.openxmlformats.org/officeDocument/2006/relationships/image"/><Relationship Id="rId28" Target="../media/image51.png" Type="http://schemas.openxmlformats.org/officeDocument/2006/relationships/image"/><Relationship Id="rId29" Target="../media/image52.png" Type="http://schemas.openxmlformats.org/officeDocument/2006/relationships/image"/><Relationship Id="rId3" Target="../media/image26.png" Type="http://schemas.openxmlformats.org/officeDocument/2006/relationships/image"/><Relationship Id="rId30" Target="../media/image53.png" Type="http://schemas.openxmlformats.org/officeDocument/2006/relationships/image"/><Relationship Id="rId31" Target="../media/image54.png" Type="http://schemas.openxmlformats.org/officeDocument/2006/relationships/image"/><Relationship Id="rId32" Target="../media/image55.png" Type="http://schemas.openxmlformats.org/officeDocument/2006/relationships/image"/><Relationship Id="rId33" Target="../media/image56.png" Type="http://schemas.openxmlformats.org/officeDocument/2006/relationships/image"/><Relationship Id="rId34" Target="../media/image57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64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https://supabase.com/docs?utm_source=chatgpt.com" TargetMode="External" Type="http://schemas.openxmlformats.org/officeDocument/2006/relationships/hyperlink"/><Relationship Id="rId4" Target="https://supabase.com/docs/guides/database?utm_source=chatgpt.com" TargetMode="External" Type="http://schemas.openxmlformats.org/officeDocument/2006/relationships/hyperlink"/><Relationship Id="rId5" Target="https://supabase.com/docs/guides/auth?utm_source=chatgpt.com" TargetMode="External" Type="http://schemas.openxmlformats.org/officeDocument/2006/relationships/hyperlink"/><Relationship Id="rId6" Target="https://supabase.com/docs/guides/functions?utm_source=chatgpt.com" TargetMode="External" Type="http://schemas.openxmlformats.org/officeDocument/2006/relationships/hyperlink"/><Relationship Id="rId7" Target="https://react.dev/?utm_source=chatgpt.com" TargetMode="External" Type="http://schemas.openxmlformats.org/officeDocument/2006/relationships/hyperlink"/><Relationship Id="rId8" Target="https://leafletjs.com/?utm_source=chatgpt.com" TargetMode="External" Type="http://schemas.openxmlformats.org/officeDocument/2006/relationships/hyperlink"/><Relationship Id="rId9" Target="https://github.com/ThantSinTun009/Myanmar-Logistics-Tracking?utm_source=chatgpt.com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1818" y="426348"/>
            <a:ext cx="4156364" cy="7717983"/>
          </a:xfrm>
          <a:custGeom>
            <a:avLst/>
            <a:gdLst/>
            <a:ahLst/>
            <a:cxnLst/>
            <a:rect r="r" b="b" t="t" l="l"/>
            <a:pathLst>
              <a:path h="7717983" w="4156364">
                <a:moveTo>
                  <a:pt x="0" y="0"/>
                </a:moveTo>
                <a:lnTo>
                  <a:pt x="4156364" y="0"/>
                </a:lnTo>
                <a:lnTo>
                  <a:pt x="4156364" y="7717982"/>
                </a:lnTo>
                <a:lnTo>
                  <a:pt x="0" y="7717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26842" y="2350377"/>
            <a:ext cx="1968804" cy="4088563"/>
          </a:xfrm>
          <a:custGeom>
            <a:avLst/>
            <a:gdLst/>
            <a:ahLst/>
            <a:cxnLst/>
            <a:rect r="r" b="b" t="t" l="l"/>
            <a:pathLst>
              <a:path h="4088563" w="1968804">
                <a:moveTo>
                  <a:pt x="0" y="0"/>
                </a:moveTo>
                <a:lnTo>
                  <a:pt x="1968804" y="0"/>
                </a:lnTo>
                <a:lnTo>
                  <a:pt x="1968804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22220" y="5564382"/>
            <a:ext cx="4801694" cy="3869923"/>
          </a:xfrm>
          <a:custGeom>
            <a:avLst/>
            <a:gdLst/>
            <a:ahLst/>
            <a:cxnLst/>
            <a:rect r="r" b="b" t="t" l="l"/>
            <a:pathLst>
              <a:path h="3869923" w="4801694">
                <a:moveTo>
                  <a:pt x="0" y="0"/>
                </a:moveTo>
                <a:lnTo>
                  <a:pt x="4801694" y="0"/>
                </a:lnTo>
                <a:lnTo>
                  <a:pt x="4801694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5330" y="607323"/>
            <a:ext cx="8498670" cy="300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4"/>
              </a:lnSpc>
            </a:pPr>
            <a:r>
              <a:rPr lang="en-US" sz="8025" spc="-337" b="true">
                <a:solidFill>
                  <a:srgbClr val="001F44"/>
                </a:solidFill>
                <a:latin typeface="Now Bold"/>
                <a:ea typeface="Now Bold"/>
                <a:cs typeface="Now Bold"/>
                <a:sym typeface="Now Bold"/>
              </a:rPr>
              <a:t>Myanmar Logistics  Tracking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8096" y="4285339"/>
            <a:ext cx="5907024" cy="108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sz="3594" spc="-150" b="true">
                <a:solidFill>
                  <a:srgbClr val="001F44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Rapid Prototype for Smarter Logistics Monitoring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9532" y="5699178"/>
            <a:ext cx="11400837" cy="376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554" spc="-107">
                <a:solidFill>
                  <a:srgbClr val="001F44"/>
                </a:solidFill>
                <a:latin typeface="Now"/>
                <a:ea typeface="Now"/>
                <a:cs typeface="Now"/>
                <a:sym typeface="Now"/>
              </a:rPr>
              <a:t>Assignment: AIEF-2, Assignment 5</a:t>
            </a:r>
          </a:p>
          <a:p>
            <a:pPr algn="l">
              <a:lnSpc>
                <a:spcPts val="3320"/>
              </a:lnSpc>
            </a:pPr>
          </a:p>
          <a:p>
            <a:pPr algn="l">
              <a:lnSpc>
                <a:spcPts val="3320"/>
              </a:lnSpc>
            </a:pPr>
            <a:r>
              <a:rPr lang="en-US" sz="2554" spc="-107">
                <a:solidFill>
                  <a:srgbClr val="001F44"/>
                </a:solidFill>
                <a:latin typeface="Now"/>
                <a:ea typeface="Now"/>
                <a:cs typeface="Now"/>
                <a:sym typeface="Now"/>
              </a:rPr>
              <a:t>I</a:t>
            </a:r>
            <a:r>
              <a:rPr lang="en-US" sz="2554" spc="-107" b="true">
                <a:solidFill>
                  <a:srgbClr val="001F44"/>
                </a:solidFill>
                <a:latin typeface="Now Bold"/>
                <a:ea typeface="Now Bold"/>
                <a:cs typeface="Now Bold"/>
                <a:sym typeface="Now Bold"/>
              </a:rPr>
              <a:t>nstructor :  Dr. Ye Kyaw Thu</a:t>
            </a:r>
          </a:p>
          <a:p>
            <a:pPr algn="l">
              <a:lnSpc>
                <a:spcPts val="3320"/>
              </a:lnSpc>
            </a:pPr>
          </a:p>
          <a:p>
            <a:pPr algn="l">
              <a:lnSpc>
                <a:spcPts val="3320"/>
              </a:lnSpc>
            </a:pPr>
            <a:r>
              <a:rPr lang="en-US" sz="2554" spc="-107" b="true">
                <a:solidFill>
                  <a:srgbClr val="001F44"/>
                </a:solidFill>
                <a:latin typeface="Now Bold"/>
                <a:ea typeface="Now Bold"/>
                <a:cs typeface="Now Bold"/>
                <a:sym typeface="Now Bold"/>
              </a:rPr>
              <a:t>Group 4 members:</a:t>
            </a:r>
          </a:p>
          <a:p>
            <a:pPr algn="l">
              <a:lnSpc>
                <a:spcPts val="3320"/>
              </a:lnSpc>
            </a:pPr>
            <a:r>
              <a:rPr lang="en-US" sz="2554" spc="-107" b="true">
                <a:solidFill>
                  <a:srgbClr val="001F44"/>
                </a:solidFill>
                <a:latin typeface="Now Bold"/>
                <a:ea typeface="Now Bold"/>
                <a:cs typeface="Now Bold"/>
                <a:sym typeface="Now Bold"/>
              </a:rPr>
              <a:t>Aung Khant Myat, Htoo Eaindra Tin , Kyawt Kyawt Zin, Kaung Myat Kyaw</a:t>
            </a:r>
          </a:p>
          <a:p>
            <a:pPr algn="l">
              <a:lnSpc>
                <a:spcPts val="3320"/>
              </a:lnSpc>
            </a:pPr>
            <a:r>
              <a:rPr lang="en-US" sz="2554" spc="-107" b="true">
                <a:solidFill>
                  <a:srgbClr val="001F44"/>
                </a:solidFill>
                <a:latin typeface="Now Bold"/>
                <a:ea typeface="Now Bold"/>
                <a:cs typeface="Now Bold"/>
                <a:sym typeface="Now Bold"/>
              </a:rPr>
              <a:t>Min Khant Kyaw , Myint Thu Soe , Myo Thet, Soe Thandar Tint , Thida Aye , </a:t>
            </a:r>
          </a:p>
          <a:p>
            <a:pPr algn="l">
              <a:lnSpc>
                <a:spcPts val="3320"/>
              </a:lnSpc>
            </a:pPr>
            <a:r>
              <a:rPr lang="en-US" sz="2554" spc="-107" b="true">
                <a:solidFill>
                  <a:srgbClr val="001F44"/>
                </a:solidFill>
                <a:latin typeface="Now Bold"/>
                <a:ea typeface="Now Bold"/>
                <a:cs typeface="Now Bold"/>
                <a:sym typeface="Now Bold"/>
              </a:rPr>
              <a:t>Thant Sin Tun , Wai Yan Htet Aung</a:t>
            </a:r>
          </a:p>
          <a:p>
            <a:pPr algn="l">
              <a:lnSpc>
                <a:spcPts val="332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68096" y="3486110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12708" y="0"/>
            <a:ext cx="10675292" cy="7072996"/>
          </a:xfrm>
          <a:custGeom>
            <a:avLst/>
            <a:gdLst/>
            <a:ahLst/>
            <a:cxnLst/>
            <a:rect r="r" b="b" t="t" l="l"/>
            <a:pathLst>
              <a:path h="7072996" w="10675292">
                <a:moveTo>
                  <a:pt x="0" y="0"/>
                </a:moveTo>
                <a:lnTo>
                  <a:pt x="10675292" y="0"/>
                </a:lnTo>
                <a:lnTo>
                  <a:pt x="10675292" y="7072996"/>
                </a:lnTo>
                <a:lnTo>
                  <a:pt x="0" y="70729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6656" y="1270173"/>
            <a:ext cx="7022592" cy="130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1"/>
              </a:lnSpc>
            </a:pPr>
            <a:r>
              <a:rPr lang="en-US" sz="9701" spc="-485" b="true">
                <a:solidFill>
                  <a:srgbClr val="001C42"/>
                </a:solidFill>
                <a:latin typeface="Now Bold"/>
                <a:ea typeface="Now Bold"/>
                <a:cs typeface="Now Bold"/>
                <a:sym typeface="Now Bold"/>
              </a:rPr>
              <a:t>The Problem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569017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39610" y="3571567"/>
            <a:ext cx="6499757" cy="3143866"/>
            <a:chOff x="0" y="0"/>
            <a:chExt cx="8666343" cy="419182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8233026" cy="1156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633"/>
                </a:lnSpc>
              </a:pPr>
              <a:r>
                <a:rPr lang="en-US" sz="2299" spc="-45">
                  <a:solidFill>
                    <a:srgbClr val="001C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Border gate closures and checkpoints cause customs delays and route disruption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534141"/>
              <a:ext cx="8666343" cy="1156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633"/>
                </a:lnSpc>
              </a:pPr>
              <a:r>
                <a:rPr lang="en-US" sz="2299" spc="-45">
                  <a:solidFill>
                    <a:srgbClr val="001C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Traders, drivers and managers lack</a:t>
              </a:r>
            </a:p>
            <a:p>
              <a:pPr algn="just">
                <a:lnSpc>
                  <a:spcPts val="3633"/>
                </a:lnSpc>
              </a:pPr>
              <a:r>
                <a:rPr lang="en-US" sz="2299" spc="-45">
                  <a:solidFill>
                    <a:srgbClr val="001C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timely shipment status and delay information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220682"/>
              <a:ext cx="7340902" cy="971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56"/>
                </a:lnSpc>
              </a:pPr>
              <a:r>
                <a:rPr lang="en-US" sz="2274" spc="-45">
                  <a:solidFill>
                    <a:srgbClr val="001C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Fragmented communication across stakeholders leads to shipment delays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5330" y="7415896"/>
            <a:ext cx="16997340" cy="2153601"/>
            <a:chOff x="0" y="0"/>
            <a:chExt cx="22663120" cy="2871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18909" cy="2871469"/>
            </a:xfrm>
            <a:custGeom>
              <a:avLst/>
              <a:gdLst/>
              <a:ahLst/>
              <a:cxnLst/>
              <a:rect r="r" b="b" t="t" l="l"/>
              <a:pathLst>
                <a:path h="2871469" w="5818909">
                  <a:moveTo>
                    <a:pt x="0" y="0"/>
                  </a:moveTo>
                  <a:lnTo>
                    <a:pt x="5818909" y="0"/>
                  </a:lnTo>
                  <a:lnTo>
                    <a:pt x="5818909" y="2871469"/>
                  </a:lnTo>
                  <a:lnTo>
                    <a:pt x="0" y="2871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358504" y="808666"/>
              <a:ext cx="2487168" cy="1289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32"/>
                </a:lnSpc>
              </a:pPr>
              <a:r>
                <a:rPr lang="en-US" b="true" sz="3025" spc="-6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Route disruption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5235560" y="0"/>
              <a:ext cx="6387675" cy="2871469"/>
            </a:xfrm>
            <a:custGeom>
              <a:avLst/>
              <a:gdLst/>
              <a:ahLst/>
              <a:cxnLst/>
              <a:rect r="r" b="b" t="t" l="l"/>
              <a:pathLst>
                <a:path h="2871469" w="6387675">
                  <a:moveTo>
                    <a:pt x="0" y="0"/>
                  </a:moveTo>
                  <a:lnTo>
                    <a:pt x="6387674" y="0"/>
                  </a:lnTo>
                  <a:lnTo>
                    <a:pt x="6387674" y="2871469"/>
                  </a:lnTo>
                  <a:lnTo>
                    <a:pt x="0" y="2871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6332840" y="794409"/>
              <a:ext cx="4072128" cy="1317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81"/>
                </a:lnSpc>
              </a:pPr>
              <a:r>
                <a:rPr lang="en-US" b="true" sz="3062" spc="-6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Communication gap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10748211" y="0"/>
              <a:ext cx="6402258" cy="2871469"/>
            </a:xfrm>
            <a:custGeom>
              <a:avLst/>
              <a:gdLst/>
              <a:ahLst/>
              <a:cxnLst/>
              <a:rect r="r" b="b" t="t" l="l"/>
              <a:pathLst>
                <a:path h="2871469" w="6402258">
                  <a:moveTo>
                    <a:pt x="0" y="0"/>
                  </a:moveTo>
                  <a:lnTo>
                    <a:pt x="6402258" y="0"/>
                  </a:lnTo>
                  <a:lnTo>
                    <a:pt x="6402258" y="2871469"/>
                  </a:lnTo>
                  <a:lnTo>
                    <a:pt x="0" y="2871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2794600" y="794409"/>
              <a:ext cx="2487168" cy="1317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81"/>
                </a:lnSpc>
              </a:pPr>
              <a:r>
                <a:rPr lang="en-US" b="true" sz="3062" spc="-6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Shipment delay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16552536" y="0"/>
              <a:ext cx="6110584" cy="2871469"/>
            </a:xfrm>
            <a:custGeom>
              <a:avLst/>
              <a:gdLst/>
              <a:ahLst/>
              <a:cxnLst/>
              <a:rect r="r" b="b" t="t" l="l"/>
              <a:pathLst>
                <a:path h="2871469" w="6110584">
                  <a:moveTo>
                    <a:pt x="0" y="0"/>
                  </a:moveTo>
                  <a:lnTo>
                    <a:pt x="6110584" y="0"/>
                  </a:lnTo>
                  <a:lnTo>
                    <a:pt x="6110584" y="2871469"/>
                  </a:lnTo>
                  <a:lnTo>
                    <a:pt x="0" y="2871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8597992" y="794409"/>
              <a:ext cx="2023872" cy="1317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81"/>
                </a:lnSpc>
              </a:pPr>
              <a:r>
                <a:rPr lang="en-US" b="true" sz="3062" spc="-6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Lack of visibility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4672" y="1210341"/>
            <a:ext cx="9654829" cy="109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9"/>
              </a:lnSpc>
            </a:pPr>
            <a:r>
              <a:rPr lang="en-US" sz="8189" spc="-163" b="true">
                <a:solidFill>
                  <a:srgbClr val="001C42"/>
                </a:solidFill>
                <a:latin typeface="Now Bold"/>
                <a:ea typeface="Now Bold"/>
                <a:cs typeface="Now Bold"/>
                <a:sym typeface="Now Bold"/>
              </a:rPr>
              <a:t>Proposed Solution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350377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3421712"/>
            <a:ext cx="4364182" cy="4514911"/>
          </a:xfrm>
          <a:custGeom>
            <a:avLst/>
            <a:gdLst/>
            <a:ahLst/>
            <a:cxnLst/>
            <a:rect r="r" b="b" t="t" l="l"/>
            <a:pathLst>
              <a:path h="4514911" w="4364182">
                <a:moveTo>
                  <a:pt x="0" y="0"/>
                </a:moveTo>
                <a:lnTo>
                  <a:pt x="4364182" y="0"/>
                </a:lnTo>
                <a:lnTo>
                  <a:pt x="4364182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330" y="3421712"/>
            <a:ext cx="4364182" cy="1300906"/>
          </a:xfrm>
          <a:custGeom>
            <a:avLst/>
            <a:gdLst/>
            <a:ahLst/>
            <a:cxnLst/>
            <a:rect r="r" b="b" t="t" l="l"/>
            <a:pathLst>
              <a:path h="1300906" w="4364182">
                <a:moveTo>
                  <a:pt x="0" y="0"/>
                </a:moveTo>
                <a:lnTo>
                  <a:pt x="4364182" y="0"/>
                </a:lnTo>
                <a:lnTo>
                  <a:pt x="436418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94560" y="3945694"/>
            <a:ext cx="1335024" cy="44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b="true" sz="3401" spc="-6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Admin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779818" y="5138034"/>
            <a:ext cx="1979742" cy="655919"/>
          </a:xfrm>
          <a:custGeom>
            <a:avLst/>
            <a:gdLst/>
            <a:ahLst/>
            <a:cxnLst/>
            <a:rect r="r" b="b" t="t" l="l"/>
            <a:pathLst>
              <a:path h="655919" w="1979742">
                <a:moveTo>
                  <a:pt x="0" y="0"/>
                </a:moveTo>
                <a:lnTo>
                  <a:pt x="1979742" y="0"/>
                </a:lnTo>
                <a:lnTo>
                  <a:pt x="197974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29866" y="3214004"/>
            <a:ext cx="4801694" cy="4722618"/>
          </a:xfrm>
          <a:custGeom>
            <a:avLst/>
            <a:gdLst/>
            <a:ahLst/>
            <a:cxnLst/>
            <a:rect r="r" b="b" t="t" l="l"/>
            <a:pathLst>
              <a:path h="4722618" w="4801694">
                <a:moveTo>
                  <a:pt x="0" y="0"/>
                </a:moveTo>
                <a:lnTo>
                  <a:pt x="4801694" y="0"/>
                </a:lnTo>
                <a:lnTo>
                  <a:pt x="4801694" y="4722619"/>
                </a:lnTo>
                <a:lnTo>
                  <a:pt x="0" y="47226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393952" y="3848060"/>
            <a:ext cx="2843828" cy="2590881"/>
          </a:xfrm>
          <a:custGeom>
            <a:avLst/>
            <a:gdLst/>
            <a:ahLst/>
            <a:cxnLst/>
            <a:rect r="r" b="b" t="t" l="l"/>
            <a:pathLst>
              <a:path h="2590881" w="2843828">
                <a:moveTo>
                  <a:pt x="0" y="0"/>
                </a:moveTo>
                <a:lnTo>
                  <a:pt x="2843828" y="0"/>
                </a:lnTo>
                <a:lnTo>
                  <a:pt x="2843828" y="2590880"/>
                </a:lnTo>
                <a:lnTo>
                  <a:pt x="0" y="25908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516368" y="6622827"/>
            <a:ext cx="2651760" cy="76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b="true" sz="2546" spc="-5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Central Logistics Tracking System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008086" y="2776725"/>
            <a:ext cx="2843828" cy="1300906"/>
          </a:xfrm>
          <a:custGeom>
            <a:avLst/>
            <a:gdLst/>
            <a:ahLst/>
            <a:cxnLst/>
            <a:rect r="r" b="b" t="t" l="l"/>
            <a:pathLst>
              <a:path h="1300906" w="2843828">
                <a:moveTo>
                  <a:pt x="0" y="0"/>
                </a:moveTo>
                <a:lnTo>
                  <a:pt x="2843828" y="0"/>
                </a:lnTo>
                <a:lnTo>
                  <a:pt x="284382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622220" y="1497682"/>
            <a:ext cx="4145426" cy="3651284"/>
          </a:xfrm>
          <a:custGeom>
            <a:avLst/>
            <a:gdLst/>
            <a:ahLst/>
            <a:cxnLst/>
            <a:rect r="r" b="b" t="t" l="l"/>
            <a:pathLst>
              <a:path h="3651284" w="4145426">
                <a:moveTo>
                  <a:pt x="0" y="0"/>
                </a:moveTo>
                <a:lnTo>
                  <a:pt x="4145426" y="0"/>
                </a:lnTo>
                <a:lnTo>
                  <a:pt x="4145426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22220" y="1497682"/>
            <a:ext cx="4145426" cy="1289974"/>
          </a:xfrm>
          <a:custGeom>
            <a:avLst/>
            <a:gdLst/>
            <a:ahLst/>
            <a:cxnLst/>
            <a:rect r="r" b="b" t="t" l="l"/>
            <a:pathLst>
              <a:path h="1289974" w="4145426">
                <a:moveTo>
                  <a:pt x="0" y="0"/>
                </a:moveTo>
                <a:lnTo>
                  <a:pt x="4145426" y="0"/>
                </a:lnTo>
                <a:lnTo>
                  <a:pt x="4145426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063472" y="2019059"/>
            <a:ext cx="1335024" cy="44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5"/>
              </a:lnSpc>
            </a:pPr>
            <a:r>
              <a:rPr lang="en-US" b="true" sz="3315" spc="-6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Trader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226842" y="6854356"/>
            <a:ext cx="2625072" cy="863627"/>
          </a:xfrm>
          <a:custGeom>
            <a:avLst/>
            <a:gdLst/>
            <a:ahLst/>
            <a:cxnLst/>
            <a:rect r="r" b="b" t="t" l="l"/>
            <a:pathLst>
              <a:path h="863627" w="2625072">
                <a:moveTo>
                  <a:pt x="0" y="0"/>
                </a:moveTo>
                <a:lnTo>
                  <a:pt x="2625072" y="0"/>
                </a:lnTo>
                <a:lnTo>
                  <a:pt x="262507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622220" y="5990729"/>
            <a:ext cx="4145426" cy="3662216"/>
          </a:xfrm>
          <a:custGeom>
            <a:avLst/>
            <a:gdLst/>
            <a:ahLst/>
            <a:cxnLst/>
            <a:rect r="r" b="b" t="t" l="l"/>
            <a:pathLst>
              <a:path h="3662216" w="4145426">
                <a:moveTo>
                  <a:pt x="0" y="0"/>
                </a:moveTo>
                <a:lnTo>
                  <a:pt x="4145426" y="0"/>
                </a:lnTo>
                <a:lnTo>
                  <a:pt x="4145426" y="3662216"/>
                </a:lnTo>
                <a:lnTo>
                  <a:pt x="0" y="36622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622220" y="5990729"/>
            <a:ext cx="4145426" cy="1300906"/>
          </a:xfrm>
          <a:custGeom>
            <a:avLst/>
            <a:gdLst/>
            <a:ahLst/>
            <a:cxnLst/>
            <a:rect r="r" b="b" t="t" l="l"/>
            <a:pathLst>
              <a:path h="1300906" w="4145426">
                <a:moveTo>
                  <a:pt x="0" y="0"/>
                </a:moveTo>
                <a:lnTo>
                  <a:pt x="4145426" y="0"/>
                </a:lnTo>
                <a:lnTo>
                  <a:pt x="414542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136624" y="6463043"/>
            <a:ext cx="1207008" cy="44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5"/>
              </a:lnSpc>
            </a:pPr>
            <a:r>
              <a:rPr lang="en-US" b="true" sz="3315" spc="-6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Driver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30841" y="2901222"/>
            <a:ext cx="2881312" cy="1665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939" indent="-200470" lvl="1">
              <a:lnSpc>
                <a:spcPts val="4642"/>
              </a:lnSpc>
              <a:buFont typeface="Arial"/>
              <a:buChar char="•"/>
            </a:pPr>
            <a:r>
              <a:rPr lang="en-US" b="true" sz="1857" spc="-37">
                <a:solidFill>
                  <a:srgbClr val="001C42"/>
                </a:solidFill>
                <a:latin typeface="Now Medium"/>
                <a:ea typeface="Now Medium"/>
                <a:cs typeface="Now Medium"/>
                <a:sym typeface="Now Medium"/>
              </a:rPr>
              <a:t>Request shipments</a:t>
            </a:r>
          </a:p>
          <a:p>
            <a:pPr algn="l" marL="400939" indent="-200470" lvl="1">
              <a:lnSpc>
                <a:spcPts val="4642"/>
              </a:lnSpc>
              <a:buFont typeface="Arial"/>
              <a:buChar char="•"/>
            </a:pPr>
            <a:r>
              <a:rPr lang="en-US" b="true" sz="1857" spc="-37">
                <a:solidFill>
                  <a:srgbClr val="001C42"/>
                </a:solidFill>
                <a:latin typeface="Now Medium"/>
                <a:ea typeface="Now Medium"/>
                <a:cs typeface="Now Medium"/>
                <a:sym typeface="Now Medium"/>
              </a:rPr>
              <a:t>Track status</a:t>
            </a:r>
          </a:p>
          <a:p>
            <a:pPr algn="l" marL="400939" indent="-200470" lvl="1">
              <a:lnSpc>
                <a:spcPts val="4642"/>
              </a:lnSpc>
              <a:buFont typeface="Arial"/>
              <a:buChar char="•"/>
            </a:pPr>
            <a:r>
              <a:rPr lang="en-US" b="true" sz="1857" spc="-37">
                <a:solidFill>
                  <a:srgbClr val="001C42"/>
                </a:solidFill>
                <a:latin typeface="Now Medium"/>
                <a:ea typeface="Now Medium"/>
                <a:cs typeface="Now Medium"/>
                <a:sym typeface="Now Medium"/>
              </a:rPr>
              <a:t>Receive alerts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30841" y="7367835"/>
            <a:ext cx="3618574" cy="1665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939" indent="-200470" lvl="1">
              <a:lnSpc>
                <a:spcPts val="4642"/>
              </a:lnSpc>
              <a:buFont typeface="Arial"/>
              <a:buChar char="•"/>
            </a:pPr>
            <a:r>
              <a:rPr lang="en-US" b="true" sz="1857" spc="-37">
                <a:solidFill>
                  <a:srgbClr val="001C42"/>
                </a:solidFill>
                <a:latin typeface="Now Medium"/>
                <a:ea typeface="Now Medium"/>
                <a:cs typeface="Now Medium"/>
                <a:sym typeface="Now Medium"/>
              </a:rPr>
              <a:t>View assignments</a:t>
            </a:r>
          </a:p>
          <a:p>
            <a:pPr algn="l" marL="400939" indent="-200470" lvl="1">
              <a:lnSpc>
                <a:spcPts val="4642"/>
              </a:lnSpc>
              <a:buFont typeface="Arial"/>
              <a:buChar char="•"/>
            </a:pPr>
            <a:r>
              <a:rPr lang="en-US" b="true" sz="1857" spc="-37">
                <a:solidFill>
                  <a:srgbClr val="001C42"/>
                </a:solidFill>
                <a:latin typeface="Now Medium"/>
                <a:ea typeface="Now Medium"/>
                <a:cs typeface="Now Medium"/>
                <a:sym typeface="Now Medium"/>
              </a:rPr>
              <a:t>Update status and location</a:t>
            </a:r>
          </a:p>
          <a:p>
            <a:pPr algn="l" marL="400939" indent="-200470" lvl="1">
              <a:lnSpc>
                <a:spcPts val="4642"/>
              </a:lnSpc>
              <a:buFont typeface="Arial"/>
              <a:buChar char="•"/>
            </a:pPr>
            <a:r>
              <a:rPr lang="en-US" b="true" sz="1857" spc="-37">
                <a:solidFill>
                  <a:srgbClr val="001C42"/>
                </a:solidFill>
                <a:latin typeface="Now Medium"/>
                <a:ea typeface="Now Medium"/>
                <a:cs typeface="Now Medium"/>
                <a:sym typeface="Now Medium"/>
              </a:rPr>
              <a:t> Upload documents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1872" y="4855732"/>
            <a:ext cx="3195485" cy="2246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939" indent="-200470" lvl="1">
              <a:lnSpc>
                <a:spcPts val="4642"/>
              </a:lnSpc>
              <a:buFont typeface="Arial"/>
              <a:buChar char="•"/>
            </a:pPr>
            <a:r>
              <a:rPr lang="en-US" b="true" sz="1857" spc="-37">
                <a:solidFill>
                  <a:srgbClr val="001C42"/>
                </a:solidFill>
                <a:latin typeface="Now Medium"/>
                <a:ea typeface="Now Medium"/>
                <a:cs typeface="Now Medium"/>
                <a:sym typeface="Now Medium"/>
              </a:rPr>
              <a:t>Manage routes</a:t>
            </a:r>
          </a:p>
          <a:p>
            <a:pPr algn="l" marL="400939" indent="-200470" lvl="1">
              <a:lnSpc>
                <a:spcPts val="4642"/>
              </a:lnSpc>
              <a:buFont typeface="Arial"/>
              <a:buChar char="•"/>
            </a:pPr>
            <a:r>
              <a:rPr lang="en-US" b="true" sz="1857" spc="-37">
                <a:solidFill>
                  <a:srgbClr val="001C42"/>
                </a:solidFill>
                <a:latin typeface="Now Medium"/>
                <a:ea typeface="Now Medium"/>
                <a:cs typeface="Now Medium"/>
                <a:sym typeface="Now Medium"/>
              </a:rPr>
              <a:t>Monitor shipments</a:t>
            </a:r>
          </a:p>
          <a:p>
            <a:pPr algn="l" marL="400939" indent="-200470" lvl="1">
              <a:lnSpc>
                <a:spcPts val="4642"/>
              </a:lnSpc>
              <a:buFont typeface="Arial"/>
              <a:buChar char="•"/>
            </a:pPr>
            <a:r>
              <a:rPr lang="en-US" b="true" sz="1857" spc="-37">
                <a:solidFill>
                  <a:srgbClr val="001C42"/>
                </a:solidFill>
                <a:latin typeface="Now Medium"/>
                <a:ea typeface="Now Medium"/>
                <a:cs typeface="Now Medium"/>
                <a:sym typeface="Now Medium"/>
              </a:rPr>
              <a:t>Assign drivers</a:t>
            </a:r>
          </a:p>
          <a:p>
            <a:pPr algn="l" marL="400939" indent="-200470" lvl="1">
              <a:lnSpc>
                <a:spcPts val="4642"/>
              </a:lnSpc>
              <a:buFont typeface="Arial"/>
              <a:buChar char="•"/>
            </a:pPr>
            <a:r>
              <a:rPr lang="en-US" b="true" sz="1857" spc="-37">
                <a:solidFill>
                  <a:srgbClr val="001C42"/>
                </a:solidFill>
                <a:latin typeface="Now Medium"/>
                <a:ea typeface="Now Medium"/>
                <a:cs typeface="Now Medium"/>
                <a:sym typeface="Now Medium"/>
              </a:rPr>
              <a:t>Handle alerts and users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368" y="918332"/>
            <a:ext cx="9637776" cy="940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6"/>
              </a:lnSpc>
            </a:pPr>
            <a:r>
              <a:rPr lang="en-US" sz="6986" spc="-209" b="true">
                <a:solidFill>
                  <a:srgbClr val="001C40"/>
                </a:solidFill>
                <a:latin typeface="Now Bold"/>
                <a:ea typeface="Now Bold"/>
                <a:cs typeface="Now Bold"/>
                <a:sym typeface="Now Bold"/>
              </a:rPr>
              <a:t>How the System Works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705390"/>
            <a:ext cx="1104718" cy="448211"/>
          </a:xfrm>
          <a:custGeom>
            <a:avLst/>
            <a:gdLst/>
            <a:ahLst/>
            <a:cxnLst/>
            <a:rect r="r" b="b" t="t" l="l"/>
            <a:pathLst>
              <a:path h="448211" w="1104718">
                <a:moveTo>
                  <a:pt x="0" y="0"/>
                </a:moveTo>
                <a:lnTo>
                  <a:pt x="1104718" y="0"/>
                </a:lnTo>
                <a:lnTo>
                  <a:pt x="110471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8368" y="2282384"/>
            <a:ext cx="7534656" cy="30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2360" spc="-70" b="true">
                <a:solidFill>
                  <a:srgbClr val="001C40"/>
                </a:solidFill>
                <a:latin typeface="Now Bold"/>
                <a:ea typeface="Now Bold"/>
                <a:cs typeface="Now Bold"/>
                <a:sym typeface="Now Bold"/>
              </a:rPr>
              <a:t>End-to-end workflow with smart disruption handling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2776725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7818" y="3214004"/>
            <a:ext cx="1979742" cy="3006296"/>
          </a:xfrm>
          <a:custGeom>
            <a:avLst/>
            <a:gdLst/>
            <a:ahLst/>
            <a:cxnLst/>
            <a:rect r="r" b="b" t="t" l="l"/>
            <a:pathLst>
              <a:path h="3006296" w="1979742">
                <a:moveTo>
                  <a:pt x="0" y="0"/>
                </a:moveTo>
                <a:lnTo>
                  <a:pt x="1979742" y="0"/>
                </a:lnTo>
                <a:lnTo>
                  <a:pt x="1979742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4086" y="3640352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4672" y="4878015"/>
            <a:ext cx="969264" cy="96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 spc="-55">
                <a:solidFill>
                  <a:srgbClr val="001C40"/>
                </a:solidFill>
                <a:latin typeface="Now"/>
                <a:ea typeface="Now"/>
                <a:cs typeface="Now"/>
                <a:sym typeface="Now"/>
              </a:rPr>
              <a:t>Trader requests shipment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957866" y="4285339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57866" y="3214004"/>
            <a:ext cx="2406316" cy="3006296"/>
          </a:xfrm>
          <a:custGeom>
            <a:avLst/>
            <a:gdLst/>
            <a:ahLst/>
            <a:cxnLst/>
            <a:rect r="r" b="b" t="t" l="l"/>
            <a:pathLst>
              <a:path h="3006296" w="2406316">
                <a:moveTo>
                  <a:pt x="0" y="0"/>
                </a:moveTo>
                <a:lnTo>
                  <a:pt x="2406316" y="0"/>
                </a:lnTo>
                <a:lnTo>
                  <a:pt x="2406316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21952" y="3640352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852928" y="4878015"/>
            <a:ext cx="969264" cy="96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 spc="-55">
                <a:solidFill>
                  <a:srgbClr val="001C40"/>
                </a:solidFill>
                <a:latin typeface="Now"/>
                <a:ea typeface="Now"/>
                <a:cs typeface="Now"/>
                <a:sym typeface="Now"/>
              </a:rPr>
              <a:t>Admin assigns </a:t>
            </a:r>
          </a:p>
          <a:p>
            <a:pPr algn="ctr">
              <a:lnSpc>
                <a:spcPts val="2599"/>
              </a:lnSpc>
            </a:pPr>
            <a:r>
              <a:rPr lang="en-US" sz="1857" spc="-55">
                <a:solidFill>
                  <a:srgbClr val="001C40"/>
                </a:solidFill>
                <a:latin typeface="Now"/>
                <a:ea typeface="Now"/>
                <a:cs typeface="Now"/>
                <a:sym typeface="Now"/>
              </a:rPr>
              <a:t>driver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134488" y="4285339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134488" y="3214004"/>
            <a:ext cx="2406316" cy="3006296"/>
          </a:xfrm>
          <a:custGeom>
            <a:avLst/>
            <a:gdLst/>
            <a:ahLst/>
            <a:cxnLst/>
            <a:rect r="r" b="b" t="t" l="l"/>
            <a:pathLst>
              <a:path h="3006296" w="2406316">
                <a:moveTo>
                  <a:pt x="0" y="0"/>
                </a:moveTo>
                <a:lnTo>
                  <a:pt x="2406316" y="0"/>
                </a:lnTo>
                <a:lnTo>
                  <a:pt x="2406316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779818" y="3640352"/>
            <a:ext cx="1323474" cy="1082267"/>
          </a:xfrm>
          <a:custGeom>
            <a:avLst/>
            <a:gdLst/>
            <a:ahLst/>
            <a:cxnLst/>
            <a:rect r="r" b="b" t="t" l="l"/>
            <a:pathLst>
              <a:path h="1082267" w="1323474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065776" y="4878015"/>
            <a:ext cx="969264" cy="96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 spc="-55">
                <a:solidFill>
                  <a:srgbClr val="001C40"/>
                </a:solidFill>
                <a:latin typeface="Now"/>
                <a:ea typeface="Now"/>
                <a:cs typeface="Now"/>
                <a:sym typeface="Now"/>
              </a:rPr>
              <a:t>Driver picks up shipment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311110" y="4285339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311110" y="3214004"/>
            <a:ext cx="2406316" cy="3006296"/>
          </a:xfrm>
          <a:custGeom>
            <a:avLst/>
            <a:gdLst/>
            <a:ahLst/>
            <a:cxnLst/>
            <a:rect r="r" b="b" t="t" l="l"/>
            <a:pathLst>
              <a:path h="3006296" w="2406316">
                <a:moveTo>
                  <a:pt x="0" y="0"/>
                </a:moveTo>
                <a:lnTo>
                  <a:pt x="2406316" y="0"/>
                </a:lnTo>
                <a:lnTo>
                  <a:pt x="2406316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393952" y="3640352"/>
            <a:ext cx="667206" cy="1082267"/>
          </a:xfrm>
          <a:custGeom>
            <a:avLst/>
            <a:gdLst/>
            <a:ahLst/>
            <a:cxnLst/>
            <a:rect r="r" b="b" t="t" l="l"/>
            <a:pathLst>
              <a:path h="1082267" w="667206">
                <a:moveTo>
                  <a:pt x="0" y="0"/>
                </a:moveTo>
                <a:lnTo>
                  <a:pt x="667206" y="0"/>
                </a:lnTo>
                <a:lnTo>
                  <a:pt x="66720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949440" y="4884410"/>
            <a:ext cx="1517904" cy="94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7"/>
              </a:lnSpc>
            </a:pPr>
            <a:r>
              <a:rPr lang="en-US" sz="1819" spc="-54">
                <a:solidFill>
                  <a:srgbClr val="001C40"/>
                </a:solidFill>
                <a:latin typeface="Now"/>
                <a:ea typeface="Now"/>
                <a:cs typeface="Now"/>
                <a:sym typeface="Now"/>
              </a:rPr>
              <a:t>Driver updates status and location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487732" y="4285339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706488" y="3214004"/>
            <a:ext cx="2406316" cy="3006296"/>
          </a:xfrm>
          <a:custGeom>
            <a:avLst/>
            <a:gdLst/>
            <a:ahLst/>
            <a:cxnLst/>
            <a:rect r="r" b="b" t="t" l="l"/>
            <a:pathLst>
              <a:path h="3006296" w="2406316">
                <a:moveTo>
                  <a:pt x="0" y="0"/>
                </a:moveTo>
                <a:lnTo>
                  <a:pt x="2406316" y="0"/>
                </a:lnTo>
                <a:lnTo>
                  <a:pt x="2406316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570574" y="3640352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307717" y="4908804"/>
            <a:ext cx="137335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-53">
                <a:solidFill>
                  <a:srgbClr val="001C40"/>
                </a:solidFill>
                <a:latin typeface="Now"/>
                <a:ea typeface="Now"/>
                <a:cs typeface="Now"/>
                <a:sym typeface="Now"/>
              </a:rPr>
              <a:t>Admin monitors</a:t>
            </a:r>
          </a:p>
          <a:p>
            <a:pPr algn="ctr">
              <a:lnSpc>
                <a:spcPts val="2520"/>
              </a:lnSpc>
            </a:pPr>
            <a:r>
              <a:rPr lang="en-US" sz="1800" spc="-53">
                <a:solidFill>
                  <a:srgbClr val="001C40"/>
                </a:solidFill>
                <a:latin typeface="Now"/>
                <a:ea typeface="Now"/>
                <a:cs typeface="Now"/>
                <a:sym typeface="Now"/>
              </a:rPr>
              <a:t>in real time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0883110" y="4285339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101866" y="3214004"/>
            <a:ext cx="2614134" cy="3006296"/>
          </a:xfrm>
          <a:custGeom>
            <a:avLst/>
            <a:gdLst/>
            <a:ahLst/>
            <a:cxnLst/>
            <a:rect r="r" b="b" t="t" l="l"/>
            <a:pathLst>
              <a:path h="3006296" w="2614134">
                <a:moveTo>
                  <a:pt x="0" y="0"/>
                </a:moveTo>
                <a:lnTo>
                  <a:pt x="2614134" y="0"/>
                </a:lnTo>
                <a:lnTo>
                  <a:pt x="2614134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747196" y="3640352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814048" y="4852572"/>
            <a:ext cx="1133856" cy="105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0"/>
              </a:lnSpc>
            </a:pPr>
            <a:r>
              <a:rPr lang="en-US" b="true" sz="1630" spc="-48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Route disruption, checkpoint or delay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1965952" y="6209369"/>
            <a:ext cx="4801694" cy="655919"/>
          </a:xfrm>
          <a:custGeom>
            <a:avLst/>
            <a:gdLst/>
            <a:ahLst/>
            <a:cxnLst/>
            <a:rect r="r" b="b" t="t" l="l"/>
            <a:pathLst>
              <a:path h="655919" w="4801694">
                <a:moveTo>
                  <a:pt x="0" y="0"/>
                </a:moveTo>
                <a:lnTo>
                  <a:pt x="4801694" y="0"/>
                </a:lnTo>
                <a:lnTo>
                  <a:pt x="4801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142574" y="2569017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278488" y="3214004"/>
            <a:ext cx="2406316" cy="3006296"/>
          </a:xfrm>
          <a:custGeom>
            <a:avLst/>
            <a:gdLst/>
            <a:ahLst/>
            <a:cxnLst/>
            <a:rect r="r" b="b" t="t" l="l"/>
            <a:pathLst>
              <a:path h="3006296" w="2406316">
                <a:moveTo>
                  <a:pt x="0" y="0"/>
                </a:moveTo>
                <a:lnTo>
                  <a:pt x="2406316" y="0"/>
                </a:lnTo>
                <a:lnTo>
                  <a:pt x="2406316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4142574" y="3640352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3716000" y="4909855"/>
            <a:ext cx="1627632" cy="90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1781" spc="-53">
                <a:solidFill>
                  <a:srgbClr val="001C40"/>
                </a:solidFill>
                <a:latin typeface="Now"/>
                <a:ea typeface="Now"/>
                <a:cs typeface="Now"/>
                <a:sym typeface="Now"/>
              </a:rPr>
              <a:t>System updates status and sends alerts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5455110" y="4285339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455110" y="3214004"/>
            <a:ext cx="2406316" cy="3006296"/>
          </a:xfrm>
          <a:custGeom>
            <a:avLst/>
            <a:gdLst/>
            <a:ahLst/>
            <a:cxnLst/>
            <a:rect r="r" b="b" t="t" l="l"/>
            <a:pathLst>
              <a:path h="3006296" w="2406316">
                <a:moveTo>
                  <a:pt x="0" y="0"/>
                </a:moveTo>
                <a:lnTo>
                  <a:pt x="2406316" y="0"/>
                </a:lnTo>
                <a:lnTo>
                  <a:pt x="2406316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319196" y="3640352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6130016" y="4878015"/>
            <a:ext cx="1133856" cy="96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 spc="-55">
                <a:solidFill>
                  <a:srgbClr val="001C40"/>
                </a:solidFill>
                <a:latin typeface="Now"/>
                <a:ea typeface="Now"/>
                <a:cs typeface="Now"/>
                <a:sym typeface="Now"/>
              </a:rPr>
              <a:t>Trader and Driver notified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6319196" y="2569017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207818" y="7062064"/>
            <a:ext cx="17434852" cy="2372241"/>
          </a:xfrm>
          <a:custGeom>
            <a:avLst/>
            <a:gdLst/>
            <a:ahLst/>
            <a:cxnLst/>
            <a:rect r="r" b="b" t="t" l="l"/>
            <a:pathLst>
              <a:path h="2372241" w="17434852">
                <a:moveTo>
                  <a:pt x="0" y="0"/>
                </a:moveTo>
                <a:lnTo>
                  <a:pt x="17434852" y="0"/>
                </a:lnTo>
                <a:lnTo>
                  <a:pt x="1743485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024128" y="7868619"/>
            <a:ext cx="2615184" cy="87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5"/>
              </a:lnSpc>
            </a:pPr>
            <a:r>
              <a:rPr lang="en-US" sz="3030" spc="-90" b="true">
                <a:solidFill>
                  <a:srgbClr val="001C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Status Update Example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3915732" y="7499343"/>
            <a:ext cx="229694" cy="1716322"/>
          </a:xfrm>
          <a:custGeom>
            <a:avLst/>
            <a:gdLst/>
            <a:ahLst/>
            <a:cxnLst/>
            <a:rect r="r" b="b" t="t" l="l"/>
            <a:pathLst>
              <a:path h="1716322" w="229694">
                <a:moveTo>
                  <a:pt x="0" y="0"/>
                </a:moveTo>
                <a:lnTo>
                  <a:pt x="229694" y="0"/>
                </a:lnTo>
                <a:lnTo>
                  <a:pt x="22969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6419088" y="7538478"/>
            <a:ext cx="1572768" cy="36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2120" spc="-63">
                <a:solidFill>
                  <a:srgbClr val="001C40"/>
                </a:solidFill>
                <a:latin typeface="Now Bold"/>
                <a:ea typeface="Now Bold"/>
                <a:cs typeface="Now Bold"/>
                <a:sym typeface="Now Bold"/>
              </a:rPr>
              <a:t>Route status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4572000" y="8133399"/>
            <a:ext cx="2187560" cy="1082267"/>
          </a:xfrm>
          <a:custGeom>
            <a:avLst/>
            <a:gdLst/>
            <a:ahLst/>
            <a:cxnLst/>
            <a:rect r="r" b="b" t="t" l="l"/>
            <a:pathLst>
              <a:path h="1082267" w="2187560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5175504" y="8365628"/>
            <a:ext cx="914400" cy="43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b="true" sz="2543" spc="-76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OPEN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6748622" y="8352038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7612708" y="8133399"/>
            <a:ext cx="2187560" cy="1082267"/>
          </a:xfrm>
          <a:custGeom>
            <a:avLst/>
            <a:gdLst/>
            <a:ahLst/>
            <a:cxnLst/>
            <a:rect r="r" b="b" t="t" l="l"/>
            <a:pathLst>
              <a:path h="1082267" w="2187560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207008" y="2920818"/>
            <a:ext cx="128016" cy="34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638" spc="-7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218688" y="2920818"/>
            <a:ext cx="128016" cy="34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638" spc="-7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413248" y="2920818"/>
            <a:ext cx="128016" cy="34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638" spc="-7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607808" y="2920818"/>
            <a:ext cx="128016" cy="34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638" spc="-7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930384" y="2920818"/>
            <a:ext cx="128016" cy="34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638" spc="-7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5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179808" y="2828235"/>
            <a:ext cx="128016" cy="34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638" spc="-7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6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374368" y="2828235"/>
            <a:ext cx="128016" cy="34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638" spc="-7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7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568928" y="2828235"/>
            <a:ext cx="128016" cy="34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638" spc="-7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8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783312" y="7538478"/>
            <a:ext cx="2048256" cy="36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b="true" sz="2120" spc="-63">
                <a:solidFill>
                  <a:srgbClr val="001C40"/>
                </a:solidFill>
                <a:latin typeface="Now Bold"/>
                <a:ea typeface="Now Bold"/>
                <a:cs typeface="Now Bold"/>
                <a:sym typeface="Now Bold"/>
              </a:rPr>
              <a:t>Shipment status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046720" y="8365628"/>
            <a:ext cx="1261872" cy="43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b="true" sz="2543" spc="-76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CLOSED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210544" y="8365628"/>
            <a:ext cx="1737360" cy="43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b="true" sz="2543" spc="-76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IN TRANSIT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977872" y="8351081"/>
            <a:ext cx="1408176" cy="450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9"/>
              </a:lnSpc>
            </a:pPr>
            <a:r>
              <a:rPr lang="en-US" b="true" sz="2578" spc="-7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DELAYED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87732" y="426348"/>
            <a:ext cx="8717426" cy="7291635"/>
          </a:xfrm>
          <a:custGeom>
            <a:avLst/>
            <a:gdLst/>
            <a:ahLst/>
            <a:cxnLst/>
            <a:rect r="r" b="b" t="t" l="l"/>
            <a:pathLst>
              <a:path h="7291635" w="8717426">
                <a:moveTo>
                  <a:pt x="0" y="0"/>
                </a:moveTo>
                <a:lnTo>
                  <a:pt x="8717426" y="0"/>
                </a:lnTo>
                <a:lnTo>
                  <a:pt x="8717426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48622" y="5138034"/>
            <a:ext cx="7842402" cy="4722618"/>
          </a:xfrm>
          <a:custGeom>
            <a:avLst/>
            <a:gdLst/>
            <a:ahLst/>
            <a:cxnLst/>
            <a:rect r="r" b="b" t="t" l="l"/>
            <a:pathLst>
              <a:path h="4722618" w="7842402">
                <a:moveTo>
                  <a:pt x="0" y="0"/>
                </a:moveTo>
                <a:lnTo>
                  <a:pt x="7842402" y="0"/>
                </a:lnTo>
                <a:lnTo>
                  <a:pt x="7842402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36354" y="5138034"/>
            <a:ext cx="2406316" cy="4722618"/>
          </a:xfrm>
          <a:custGeom>
            <a:avLst/>
            <a:gdLst/>
            <a:ahLst/>
            <a:cxnLst/>
            <a:rect r="r" b="b" t="t" l="l"/>
            <a:pathLst>
              <a:path h="4722618" w="2406316">
                <a:moveTo>
                  <a:pt x="0" y="0"/>
                </a:moveTo>
                <a:lnTo>
                  <a:pt x="2406316" y="0"/>
                </a:lnTo>
                <a:lnTo>
                  <a:pt x="2406316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1520" y="976586"/>
            <a:ext cx="6894576" cy="1961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1"/>
              </a:lnSpc>
            </a:pPr>
            <a:r>
              <a:rPr lang="en-US" sz="7864" spc="-314" b="true">
                <a:solidFill>
                  <a:srgbClr val="001F49"/>
                </a:solidFill>
                <a:latin typeface="Now Bold"/>
                <a:ea typeface="Now Bold"/>
                <a:cs typeface="Now Bold"/>
                <a:sym typeface="Now Bold"/>
              </a:rPr>
              <a:t>Prototype Demonstration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2995365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6384" y="3709753"/>
            <a:ext cx="6295819" cy="3235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24" indent="-248262" lvl="1">
              <a:lnSpc>
                <a:spcPts val="3679"/>
              </a:lnSpc>
              <a:buFont typeface="Arial"/>
              <a:buChar char="•"/>
            </a:pPr>
            <a:r>
              <a:rPr lang="en-US" sz="2299" spc="-68">
                <a:solidFill>
                  <a:srgbClr val="001F49"/>
                </a:solidFill>
                <a:latin typeface="Now"/>
                <a:ea typeface="Now"/>
                <a:cs typeface="Now"/>
                <a:sym typeface="Now"/>
              </a:rPr>
              <a:t>Role-based login &amp; access</a:t>
            </a:r>
          </a:p>
          <a:p>
            <a:pPr algn="l" marL="496524" indent="-248262" lvl="1">
              <a:lnSpc>
                <a:spcPts val="3679"/>
              </a:lnSpc>
              <a:buFont typeface="Arial"/>
              <a:buChar char="•"/>
            </a:pPr>
            <a:r>
              <a:rPr lang="en-US" sz="2299" spc="-68">
                <a:solidFill>
                  <a:srgbClr val="001F49"/>
                </a:solidFill>
                <a:latin typeface="Now"/>
                <a:ea typeface="Now"/>
                <a:cs typeface="Now"/>
                <a:sym typeface="Now"/>
              </a:rPr>
              <a:t>Admin dashboard &amp; route management</a:t>
            </a:r>
          </a:p>
          <a:p>
            <a:pPr algn="l" marL="496524" indent="-248262" lvl="1">
              <a:lnSpc>
                <a:spcPts val="3679"/>
              </a:lnSpc>
              <a:buFont typeface="Arial"/>
              <a:buChar char="•"/>
            </a:pPr>
            <a:r>
              <a:rPr lang="en-US" sz="2299" spc="-68">
                <a:solidFill>
                  <a:srgbClr val="001F49"/>
                </a:solidFill>
                <a:latin typeface="Now"/>
                <a:ea typeface="Now"/>
                <a:cs typeface="Now"/>
                <a:sym typeface="Now"/>
              </a:rPr>
              <a:t>Live shipment map &amp; tracking timeline</a:t>
            </a:r>
          </a:p>
          <a:p>
            <a:pPr algn="l" marL="496524" indent="-248262" lvl="1">
              <a:lnSpc>
                <a:spcPts val="3679"/>
              </a:lnSpc>
              <a:buFont typeface="Arial"/>
              <a:buChar char="•"/>
            </a:pPr>
            <a:r>
              <a:rPr lang="en-US" sz="2299" spc="-68">
                <a:solidFill>
                  <a:srgbClr val="001F49"/>
                </a:solidFill>
                <a:latin typeface="Now"/>
                <a:ea typeface="Now"/>
                <a:cs typeface="Now"/>
                <a:sym typeface="Now"/>
              </a:rPr>
              <a:t>Driver assignment &amp; location updates</a:t>
            </a:r>
          </a:p>
          <a:p>
            <a:pPr algn="l" marL="496524" indent="-248262" lvl="1">
              <a:lnSpc>
                <a:spcPts val="3679"/>
              </a:lnSpc>
              <a:buFont typeface="Arial"/>
              <a:buChar char="•"/>
            </a:pPr>
            <a:r>
              <a:rPr lang="en-US" sz="2299" spc="-68">
                <a:solidFill>
                  <a:srgbClr val="001F49"/>
                </a:solidFill>
                <a:latin typeface="Now"/>
                <a:ea typeface="Now"/>
                <a:cs typeface="Now"/>
                <a:sym typeface="Now"/>
              </a:rPr>
              <a:t>Alerts &amp; notifications system</a:t>
            </a:r>
          </a:p>
          <a:p>
            <a:pPr algn="l" marL="496524" indent="-248262" lvl="1">
              <a:lnSpc>
                <a:spcPts val="3679"/>
              </a:lnSpc>
              <a:buFont typeface="Arial"/>
              <a:buChar char="•"/>
            </a:pPr>
            <a:r>
              <a:rPr lang="en-US" sz="2299" spc="-68">
                <a:solidFill>
                  <a:srgbClr val="001F49"/>
                </a:solidFill>
                <a:latin typeface="Now"/>
                <a:ea typeface="Now"/>
                <a:cs typeface="Now"/>
                <a:sym typeface="Now"/>
              </a:rPr>
              <a:t>User profiles &amp; shipment document viewing</a:t>
            </a:r>
          </a:p>
          <a:p>
            <a:pPr algn="l" marL="496524" indent="-248262" lvl="1">
              <a:lnSpc>
                <a:spcPts val="3679"/>
              </a:lnSpc>
              <a:buFont typeface="Arial"/>
              <a:buChar char="•"/>
            </a:pPr>
            <a:r>
              <a:rPr lang="en-US" sz="2299" spc="-68">
                <a:solidFill>
                  <a:srgbClr val="001F49"/>
                </a:solidFill>
                <a:latin typeface="Now"/>
                <a:ea typeface="Now"/>
                <a:cs typeface="Now"/>
                <a:sym typeface="Now"/>
              </a:rPr>
              <a:t>Trader/Driver self-signup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7499343"/>
            <a:ext cx="229694" cy="1716322"/>
          </a:xfrm>
          <a:custGeom>
            <a:avLst/>
            <a:gdLst/>
            <a:ahLst/>
            <a:cxnLst/>
            <a:rect r="r" b="b" t="t" l="l"/>
            <a:pathLst>
              <a:path h="1716322" w="229694">
                <a:moveTo>
                  <a:pt x="0" y="0"/>
                </a:moveTo>
                <a:lnTo>
                  <a:pt x="229694" y="0"/>
                </a:lnTo>
                <a:lnTo>
                  <a:pt x="22969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2416" y="7661256"/>
            <a:ext cx="5705856" cy="157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3191" spc="-95" b="true">
                <a:solidFill>
                  <a:srgbClr val="001F4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From fragmented logistics communication to </a:t>
            </a:r>
            <a:r>
              <a:rPr lang="en-US" sz="3191" spc="-95" b="true">
                <a:solidFill>
                  <a:srgbClr val="0055E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centralized shipment visibility.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9824" y="2890528"/>
            <a:ext cx="8286750" cy="6367772"/>
          </a:xfrm>
          <a:custGeom>
            <a:avLst/>
            <a:gdLst/>
            <a:ahLst/>
            <a:cxnLst/>
            <a:rect r="r" b="b" t="t" l="l"/>
            <a:pathLst>
              <a:path h="6367772" w="8286750">
                <a:moveTo>
                  <a:pt x="0" y="0"/>
                </a:moveTo>
                <a:lnTo>
                  <a:pt x="8286750" y="0"/>
                </a:lnTo>
                <a:lnTo>
                  <a:pt x="8286750" y="6367772"/>
                </a:lnTo>
                <a:lnTo>
                  <a:pt x="0" y="63677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58" t="0" r="-305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9824" y="2890528"/>
            <a:ext cx="8286750" cy="219075"/>
          </a:xfrm>
          <a:custGeom>
            <a:avLst/>
            <a:gdLst/>
            <a:ahLst/>
            <a:cxnLst/>
            <a:rect r="r" b="b" t="t" l="l"/>
            <a:pathLst>
              <a:path h="219075" w="8286750">
                <a:moveTo>
                  <a:pt x="0" y="0"/>
                </a:moveTo>
                <a:lnTo>
                  <a:pt x="8286750" y="0"/>
                </a:lnTo>
                <a:lnTo>
                  <a:pt x="828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0824" y="3366820"/>
            <a:ext cx="6970044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7"/>
              </a:lnSpc>
            </a:pPr>
            <a:r>
              <a:rPr lang="en-US" b="true" sz="7473">
                <a:solidFill>
                  <a:srgbClr val="FFFFFF"/>
                </a:solidFill>
                <a:latin typeface="Now Heavy"/>
                <a:ea typeface="Now Heavy"/>
                <a:cs typeface="Now Heavy"/>
                <a:sym typeface="Now Heavy"/>
              </a:rPr>
              <a:t>CHALLENGES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38899" y="4505016"/>
            <a:ext cx="7410450" cy="219075"/>
          </a:xfrm>
          <a:custGeom>
            <a:avLst/>
            <a:gdLst/>
            <a:ahLst/>
            <a:cxnLst/>
            <a:rect r="r" b="b" t="t" l="l"/>
            <a:pathLst>
              <a:path h="219075" w="7410450">
                <a:moveTo>
                  <a:pt x="0" y="0"/>
                </a:moveTo>
                <a:lnTo>
                  <a:pt x="7410450" y="0"/>
                </a:lnTo>
                <a:lnTo>
                  <a:pt x="7410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7834" y="4657416"/>
            <a:ext cx="7450729" cy="3991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906" indent="-279953" lvl="1">
              <a:lnSpc>
                <a:spcPts val="6483"/>
              </a:lnSpc>
              <a:buFont typeface="Arial"/>
              <a:buChar char="•"/>
            </a:pPr>
            <a:r>
              <a:rPr lang="en-US" sz="259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No prior experiences in Mobile Applications</a:t>
            </a:r>
          </a:p>
          <a:p>
            <a:pPr algn="l" marL="559906" indent="-279953" lvl="1">
              <a:lnSpc>
                <a:spcPts val="6483"/>
              </a:lnSpc>
              <a:buFont typeface="Arial"/>
              <a:buChar char="•"/>
            </a:pPr>
            <a:r>
              <a:rPr lang="en-US" sz="259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Vibe coding alone is not enough to implement</a:t>
            </a:r>
          </a:p>
          <a:p>
            <a:pPr algn="l" marL="559906" indent="-279953" lvl="1">
              <a:lnSpc>
                <a:spcPts val="6483"/>
              </a:lnSpc>
              <a:buFont typeface="Arial"/>
              <a:buChar char="•"/>
            </a:pPr>
            <a:r>
              <a:rPr lang="en-US" sz="259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Dependencies mismatch Errors</a:t>
            </a:r>
          </a:p>
          <a:p>
            <a:pPr algn="l" marL="559906" indent="-279953" lvl="1">
              <a:lnSpc>
                <a:spcPts val="6483"/>
              </a:lnSpc>
              <a:buFont typeface="Arial"/>
              <a:buChar char="•"/>
            </a:pPr>
            <a:r>
              <a:rPr lang="en-US" b="true" sz="2593">
                <a:solidFill>
                  <a:srgbClr val="FDFA10"/>
                </a:solidFill>
                <a:latin typeface="Aileron Bold"/>
                <a:ea typeface="Aileron Bold"/>
                <a:cs typeface="Aileron Bold"/>
                <a:sym typeface="Aileron Bold"/>
              </a:rPr>
              <a:t>Learning &amp; Growing (not only as an individual but also as a team)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895133" y="1699365"/>
            <a:ext cx="9228801" cy="6335679"/>
          </a:xfrm>
          <a:custGeom>
            <a:avLst/>
            <a:gdLst/>
            <a:ahLst/>
            <a:cxnLst/>
            <a:rect r="r" b="b" t="t" l="l"/>
            <a:pathLst>
              <a:path h="6335679" w="9228801">
                <a:moveTo>
                  <a:pt x="0" y="0"/>
                </a:moveTo>
                <a:lnTo>
                  <a:pt x="9228801" y="0"/>
                </a:lnTo>
                <a:lnTo>
                  <a:pt x="9228801" y="6335679"/>
                </a:lnTo>
                <a:lnTo>
                  <a:pt x="0" y="6335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383" r="0" b="-9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83893" y="1699365"/>
            <a:ext cx="8286750" cy="219075"/>
          </a:xfrm>
          <a:custGeom>
            <a:avLst/>
            <a:gdLst/>
            <a:ahLst/>
            <a:cxnLst/>
            <a:rect r="r" b="b" t="t" l="l"/>
            <a:pathLst>
              <a:path h="219075" w="8286750">
                <a:moveTo>
                  <a:pt x="0" y="0"/>
                </a:moveTo>
                <a:lnTo>
                  <a:pt x="8286750" y="0"/>
                </a:lnTo>
                <a:lnTo>
                  <a:pt x="828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283893" y="2180377"/>
            <a:ext cx="7629525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7"/>
              </a:lnSpc>
            </a:pPr>
            <a:r>
              <a:rPr lang="en-US" b="true" sz="7473">
                <a:solidFill>
                  <a:srgbClr val="FFFFFF"/>
                </a:solidFill>
                <a:latin typeface="Now Heavy"/>
                <a:ea typeface="Now Heavy"/>
                <a:cs typeface="Now Heavy"/>
                <a:sym typeface="Now Heavy"/>
              </a:rPr>
              <a:t>FUTURE WORK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502968" y="3313852"/>
            <a:ext cx="7410450" cy="219075"/>
          </a:xfrm>
          <a:custGeom>
            <a:avLst/>
            <a:gdLst/>
            <a:ahLst/>
            <a:cxnLst/>
            <a:rect r="r" b="b" t="t" l="l"/>
            <a:pathLst>
              <a:path h="219075" w="7410450">
                <a:moveTo>
                  <a:pt x="0" y="0"/>
                </a:moveTo>
                <a:lnTo>
                  <a:pt x="7410450" y="0"/>
                </a:lnTo>
                <a:lnTo>
                  <a:pt x="7410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242691" y="3609707"/>
            <a:ext cx="8327952" cy="2353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906" indent="-279953" lvl="1">
              <a:lnSpc>
                <a:spcPts val="6483"/>
              </a:lnSpc>
              <a:buFont typeface="Arial"/>
              <a:buChar char="•"/>
            </a:pPr>
            <a:r>
              <a:rPr lang="en-US" sz="259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Implementation for Driver role in Mobile application</a:t>
            </a:r>
          </a:p>
          <a:p>
            <a:pPr algn="l" marL="559906" indent="-279953" lvl="1">
              <a:lnSpc>
                <a:spcPts val="6483"/>
              </a:lnSpc>
              <a:buFont typeface="Arial"/>
              <a:buChar char="•"/>
            </a:pPr>
            <a:r>
              <a:rPr lang="en-US" sz="259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More user-friendly web design</a:t>
            </a:r>
          </a:p>
          <a:p>
            <a:pPr algn="l" marL="559906" indent="-279953" lvl="1">
              <a:lnSpc>
                <a:spcPts val="6483"/>
              </a:lnSpc>
              <a:buFont typeface="Arial"/>
              <a:buChar char="•"/>
            </a:pPr>
            <a:r>
              <a:rPr lang="en-US" sz="259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Cloud Deployment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8899" y="527323"/>
            <a:ext cx="8488307" cy="70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6"/>
              </a:lnSpc>
            </a:pPr>
            <a:r>
              <a:rPr lang="en-US" sz="5323" spc="-212" b="true">
                <a:solidFill>
                  <a:srgbClr val="001F49"/>
                </a:solidFill>
                <a:latin typeface="Now Bold"/>
                <a:ea typeface="Now Bold"/>
                <a:cs typeface="Now Bold"/>
                <a:sym typeface="Now Bold"/>
              </a:rPr>
              <a:t>Challenges &amp; Future Work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66514" y="549266"/>
            <a:ext cx="5554973" cy="72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5600" spc="-224">
                <a:solidFill>
                  <a:srgbClr val="001F49"/>
                </a:solidFill>
                <a:latin typeface="Now Bold"/>
                <a:ea typeface="Now Bold"/>
                <a:cs typeface="Now Bold"/>
                <a:sym typeface="Now Bold"/>
              </a:rPr>
              <a:t>References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03585" y="2358226"/>
            <a:ext cx="15880830" cy="6090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7701" indent="-328850" lvl="1">
              <a:lnSpc>
                <a:spcPts val="6123"/>
              </a:lnSpc>
              <a:buFont typeface="Arial"/>
              <a:buChar char="•"/>
            </a:pPr>
            <a:r>
              <a:rPr lang="en-US" sz="3046" spc="-60">
                <a:solidFill>
                  <a:srgbClr val="001C42"/>
                </a:solidFill>
                <a:latin typeface="Open Sauce"/>
                <a:ea typeface="Open Sauce"/>
                <a:cs typeface="Open Sauce"/>
                <a:sym typeface="Open Sauce"/>
              </a:rPr>
              <a:t>Supabase. (2026). Supabase Documentation. </a:t>
            </a:r>
            <a:r>
              <a:rPr lang="en-US" sz="3046" spc="-60" u="sng">
                <a:solidFill>
                  <a:srgbClr val="001C42"/>
                </a:solidFill>
                <a:latin typeface="Open Sauce"/>
                <a:ea typeface="Open Sauce"/>
                <a:cs typeface="Open Sauce"/>
                <a:sym typeface="Open Sauce"/>
                <a:hlinkClick r:id="rId3" tooltip="https://supabase.com/docs?utm_source=chatgpt.com"/>
              </a:rPr>
              <a:t>Supabase Documentation</a:t>
            </a:r>
          </a:p>
          <a:p>
            <a:pPr algn="l" marL="657701" indent="-328850" lvl="1">
              <a:lnSpc>
                <a:spcPts val="6123"/>
              </a:lnSpc>
              <a:buFont typeface="Arial"/>
              <a:buChar char="•"/>
            </a:pPr>
            <a:r>
              <a:rPr lang="en-US" sz="3046" spc="-60">
                <a:solidFill>
                  <a:srgbClr val="001C42"/>
                </a:solidFill>
                <a:latin typeface="Open Sauce"/>
                <a:ea typeface="Open Sauce"/>
                <a:cs typeface="Open Sauce"/>
                <a:sym typeface="Open Sauce"/>
              </a:rPr>
              <a:t>Supabase. (2026). Database: PostgreSQL. </a:t>
            </a:r>
            <a:r>
              <a:rPr lang="en-US" sz="3046" spc="-60" u="sng">
                <a:solidFill>
                  <a:srgbClr val="001C42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supabase.com/docs/guides/database?utm_source=chatgpt.com"/>
              </a:rPr>
              <a:t>Supabase Database Documentation</a:t>
            </a:r>
          </a:p>
          <a:p>
            <a:pPr algn="l" marL="657701" indent="-328850" lvl="1">
              <a:lnSpc>
                <a:spcPts val="6123"/>
              </a:lnSpc>
              <a:buFont typeface="Arial"/>
              <a:buChar char="•"/>
            </a:pPr>
            <a:r>
              <a:rPr lang="en-US" sz="3046" spc="-60">
                <a:solidFill>
                  <a:srgbClr val="001C42"/>
                </a:solidFill>
                <a:latin typeface="Open Sauce"/>
                <a:ea typeface="Open Sauce"/>
                <a:cs typeface="Open Sauce"/>
                <a:sym typeface="Open Sauce"/>
              </a:rPr>
              <a:t>Supabase. (2026). Authentication. </a:t>
            </a:r>
            <a:r>
              <a:rPr lang="en-US" sz="3046" spc="-60" u="sng">
                <a:solidFill>
                  <a:srgbClr val="001C42"/>
                </a:solidFill>
                <a:latin typeface="Open Sauce"/>
                <a:ea typeface="Open Sauce"/>
                <a:cs typeface="Open Sauce"/>
                <a:sym typeface="Open Sauce"/>
                <a:hlinkClick r:id="rId5" tooltip="https://supabase.com/docs/guides/auth?utm_source=chatgpt.com"/>
              </a:rPr>
              <a:t>Supabase Auth Documentation</a:t>
            </a:r>
          </a:p>
          <a:p>
            <a:pPr algn="l" marL="657701" indent="-328850" lvl="1">
              <a:lnSpc>
                <a:spcPts val="6123"/>
              </a:lnSpc>
              <a:buFont typeface="Arial"/>
              <a:buChar char="•"/>
            </a:pPr>
            <a:r>
              <a:rPr lang="en-US" sz="3046" spc="-60">
                <a:solidFill>
                  <a:srgbClr val="001C42"/>
                </a:solidFill>
                <a:latin typeface="Open Sauce"/>
                <a:ea typeface="Open Sauce"/>
                <a:cs typeface="Open Sauce"/>
                <a:sym typeface="Open Sauce"/>
              </a:rPr>
              <a:t>Supabase. (2026). Edge Functions. </a:t>
            </a:r>
            <a:r>
              <a:rPr lang="en-US" sz="3046" spc="-60" u="sng">
                <a:solidFill>
                  <a:srgbClr val="001C42"/>
                </a:solidFill>
                <a:latin typeface="Open Sauce"/>
                <a:ea typeface="Open Sauce"/>
                <a:cs typeface="Open Sauce"/>
                <a:sym typeface="Open Sauce"/>
                <a:hlinkClick r:id="rId6" tooltip="https://supabase.com/docs/guides/functions?utm_source=chatgpt.com"/>
              </a:rPr>
              <a:t>Supabase Edge Functions Documentation</a:t>
            </a:r>
          </a:p>
          <a:p>
            <a:pPr algn="l" marL="657701" indent="-328850" lvl="1">
              <a:lnSpc>
                <a:spcPts val="6123"/>
              </a:lnSpc>
              <a:buFont typeface="Arial"/>
              <a:buChar char="•"/>
            </a:pPr>
            <a:r>
              <a:rPr lang="en-US" sz="3046" spc="-60">
                <a:solidFill>
                  <a:srgbClr val="001C42"/>
                </a:solidFill>
                <a:latin typeface="Open Sauce"/>
                <a:ea typeface="Open Sauce"/>
                <a:cs typeface="Open Sauce"/>
                <a:sym typeface="Open Sauce"/>
              </a:rPr>
              <a:t>React. (2026). React Documentation. </a:t>
            </a:r>
            <a:r>
              <a:rPr lang="en-US" sz="3046" spc="-60" u="sng">
                <a:solidFill>
                  <a:srgbClr val="001C42"/>
                </a:solidFill>
                <a:latin typeface="Open Sauce"/>
                <a:ea typeface="Open Sauce"/>
                <a:cs typeface="Open Sauce"/>
                <a:sym typeface="Open Sauce"/>
                <a:hlinkClick r:id="rId7" tooltip="https://react.dev/?utm_source=chatgpt.com"/>
              </a:rPr>
              <a:t>React Documentation</a:t>
            </a:r>
          </a:p>
          <a:p>
            <a:pPr algn="l" marL="657701" indent="-328850" lvl="1">
              <a:lnSpc>
                <a:spcPts val="6123"/>
              </a:lnSpc>
              <a:buFont typeface="Arial"/>
              <a:buChar char="•"/>
            </a:pPr>
            <a:r>
              <a:rPr lang="en-US" sz="3046" spc="-60" u="sng">
                <a:solidFill>
                  <a:srgbClr val="001C42"/>
                </a:solidFill>
                <a:latin typeface="Open Sauce"/>
                <a:ea typeface="Open Sauce"/>
                <a:cs typeface="Open Sauce"/>
                <a:sym typeface="Open Sauce"/>
              </a:rPr>
              <a:t>Leaflet. (2026). Leaflet Documentation. </a:t>
            </a:r>
            <a:r>
              <a:rPr lang="en-US" sz="3046" spc="-60" u="sng">
                <a:solidFill>
                  <a:srgbClr val="001C42"/>
                </a:solidFill>
                <a:latin typeface="Open Sauce"/>
                <a:ea typeface="Open Sauce"/>
                <a:cs typeface="Open Sauce"/>
                <a:sym typeface="Open Sauce"/>
                <a:hlinkClick r:id="rId8" tooltip="https://leafletjs.com/?utm_source=chatgpt.com"/>
              </a:rPr>
              <a:t>Leaflet Documentation</a:t>
            </a:r>
          </a:p>
          <a:p>
            <a:pPr algn="l" marL="657701" indent="-328850" lvl="1">
              <a:lnSpc>
                <a:spcPts val="6123"/>
              </a:lnSpc>
              <a:buFont typeface="Arial"/>
              <a:buChar char="•"/>
            </a:pPr>
            <a:r>
              <a:rPr lang="en-US" b="true" sz="3046" spc="-60" u="sng">
                <a:solidFill>
                  <a:srgbClr val="0055E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Our Repository</a:t>
            </a:r>
            <a:r>
              <a:rPr lang="en-US" sz="3046" spc="-60" u="sng">
                <a:solidFill>
                  <a:srgbClr val="001C42"/>
                </a:solidFill>
                <a:latin typeface="Open Sauce"/>
                <a:ea typeface="Open Sauce"/>
                <a:cs typeface="Open Sauce"/>
                <a:sym typeface="Open Sauce"/>
              </a:rPr>
              <a:t>: Myanmar Logistics Tracking: LLM-assisted rapid prototype for real-time logistics monitoring and tracking in Myanmar. GitHub. </a:t>
            </a:r>
            <a:r>
              <a:rPr lang="en-US" sz="3046" spc="-60" u="sng">
                <a:solidFill>
                  <a:srgbClr val="001C42"/>
                </a:solidFill>
                <a:latin typeface="Open Sauce"/>
                <a:ea typeface="Open Sauce"/>
                <a:cs typeface="Open Sauce"/>
                <a:sym typeface="Open Sauce"/>
                <a:hlinkClick r:id="rId9" tooltip="https://github.com/ThantSinTun009/Myanmar-Logistics-Tracking?utm_source=chatgpt.com"/>
              </a:rPr>
              <a:t>GitHub Repository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37731" y="3470404"/>
            <a:ext cx="8212538" cy="1673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9"/>
              </a:lnSpc>
            </a:pPr>
            <a:r>
              <a:rPr lang="en-US" b="true" sz="13009" spc="-520">
                <a:solidFill>
                  <a:srgbClr val="001F49"/>
                </a:solidFill>
                <a:latin typeface="Now Bold"/>
                <a:ea typeface="Now Bold"/>
                <a:cs typeface="Now Bold"/>
                <a:sym typeface="Now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622220" y="5564382"/>
            <a:ext cx="4801694" cy="3869923"/>
          </a:xfrm>
          <a:custGeom>
            <a:avLst/>
            <a:gdLst/>
            <a:ahLst/>
            <a:cxnLst/>
            <a:rect r="r" b="b" t="t" l="l"/>
            <a:pathLst>
              <a:path h="3869923" w="4801694">
                <a:moveTo>
                  <a:pt x="0" y="0"/>
                </a:moveTo>
                <a:lnTo>
                  <a:pt x="4801694" y="0"/>
                </a:lnTo>
                <a:lnTo>
                  <a:pt x="4801694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DAHVqMAmCFw</dc:identifier>
  <dcterms:modified xsi:type="dcterms:W3CDTF">2011-08-01T06:04:30Z</dcterms:modified>
  <cp:revision>1</cp:revision>
  <dc:title>Myanmar Logistics System</dc:title>
</cp:coreProperties>
</file>