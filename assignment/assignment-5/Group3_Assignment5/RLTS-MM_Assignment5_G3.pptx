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85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32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83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9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32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868680" cy="8686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" name="Image 0" descr="/private/tmp/claude-501/-Users-acnmacm4-ACNM4-Workstation-AIEF-ACN-AIEF-B2-References-Assignment/ed29fea0-c5c0-440b-b677-e2826945411b/scratchpad/deck/icons/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" y="1066190"/>
            <a:ext cx="382219" cy="38221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74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RLTS4Myanmar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Logistics Monitoring for Myanmar Trading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48640" y="3337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rapid, AI-assisted prototype for cross-border cargo tracking under volatile connectivity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54864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Assignment 5  ·  AI Engineering for Software Development  ·  20 September 2026</a:t>
            </a:r>
            <a:endParaRPr lang="en-US" sz="1200" b="1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3F65EB-8917-5701-59B8-C9C89B4E96B7}"/>
              </a:ext>
            </a:extLst>
          </p:cNvPr>
          <p:cNvSpPr txBox="1"/>
          <p:nvPr/>
        </p:nvSpPr>
        <p:spPr>
          <a:xfrm>
            <a:off x="548640" y="3794760"/>
            <a:ext cx="3855194" cy="2462213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Members :</a:t>
            </a:r>
          </a:p>
          <a:p>
            <a:pPr marL="342900" indent="-342900">
              <a:buAutoNum type="arabicPeriod"/>
            </a:pPr>
            <a:r>
              <a:rPr lang="en-US" sz="14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Aint</a:t>
            </a: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Kyi Phyu Sin</a:t>
            </a:r>
          </a:p>
          <a:p>
            <a:pPr marL="342900" indent="-342900">
              <a:buAutoNum type="arabicPeriod"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Yee Hlaing</a:t>
            </a:r>
          </a:p>
          <a:p>
            <a:pPr marL="342900" indent="-342900">
              <a:buAutoNum type="arabicPeriod"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Aung Ko Ko Oo</a:t>
            </a:r>
          </a:p>
          <a:p>
            <a:pPr marL="342900" indent="-342900">
              <a:buAutoNum type="arabicPeriod"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Phyo Myat Oo</a:t>
            </a:r>
          </a:p>
          <a:p>
            <a:pPr marL="342900" indent="-342900">
              <a:buAutoNum type="arabicPeriod"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Thein Kyaw Lwin</a:t>
            </a:r>
          </a:p>
          <a:p>
            <a:pPr marL="342900" indent="-342900">
              <a:buAutoNum type="arabicPeriod"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Htun Aung Kyaw</a:t>
            </a:r>
          </a:p>
          <a:p>
            <a:pPr marL="342900" indent="-342900">
              <a:buAutoNum type="arabicPeriod"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Pyae Phyo Paing</a:t>
            </a:r>
          </a:p>
          <a:p>
            <a:pPr marL="342900" indent="-342900">
              <a:buAutoNum type="arabicPeriod"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Aung Ko Ko Oo</a:t>
            </a:r>
          </a:p>
          <a:p>
            <a:pPr marL="342900" indent="-342900">
              <a:buAutoNum type="arabicPeriod"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Paing Phyo Oo</a:t>
            </a:r>
          </a:p>
          <a:p>
            <a:pPr marL="342900" indent="-342900">
              <a:buAutoNum type="arabicPeriod"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Aung Chan Nyein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63624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" name="Image 0" descr="/private/tmp/claude-501/-Users-acnmacm4-ACNM4-Workstation-AIEF-ACN-AIEF-B2-References-Assignment/ed29fea0-c5c0-440b-b677-e2826945411b/scratchpad/deck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80" y="1722364"/>
            <a:ext cx="249448" cy="2494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61872" y="1508760"/>
            <a:ext cx="731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2011680" y="153619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194767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RLTS-MM is, and what it had to do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49631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/private/tmp/claude-501/-Users-acnmacm4-ACNM4-Workstation-AIEF-ACN-AIEF-B2-References-Assignment/ed29fea0-c5c0-440b-b677-e2826945411b/scratchpad/deck/icons/barr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380" y="2655052"/>
            <a:ext cx="249448" cy="2494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61872" y="2441448"/>
            <a:ext cx="731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2011680" y="24688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Information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011680" y="2880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and the real systems we studied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4290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2" descr="/private/tmp/claude-501/-Users-acnmacm4-ACNM4-Workstation-AIEF-ACN-AIEF-B2-References-Assignment/ed29fea0-c5c0-440b-b677-e2826945411b/scratchpad/deck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380" y="3587740"/>
            <a:ext cx="249448" cy="2494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61872" y="3374136"/>
            <a:ext cx="731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2011680" y="340156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Technical Stack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2011680" y="38130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tools, and the offline-sync design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361688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9" name="Image 3" descr="/private/tmp/claude-501/-Users-acnmacm4-ACNM4-Workstation-AIEF-ACN-AIEF-B2-References-Assignment/ed29fea0-c5c0-440b-b677-e2826945411b/scratchpad/deck/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380" y="4520428"/>
            <a:ext cx="249448" cy="249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61872" y="4306824"/>
            <a:ext cx="731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21" name="Text 15"/>
          <p:cNvSpPr txBox="1"/>
          <p:nvPr/>
        </p:nvSpPr>
        <p:spPr>
          <a:xfrm>
            <a:off x="2011680" y="433425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Outputs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2011680" y="474573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runs, live, on real devices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529437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4" descr="/private/tmp/claude-501/-Users-acnmacm4-ACNM4-Workstation-AIEF-ACN-AIEF-B2-References-Assignment/ed29fea0-c5c0-440b-b677-e2826945411b/scratchpad/deck/icons/bul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380" y="5453116"/>
            <a:ext cx="249448" cy="249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61872" y="5239512"/>
            <a:ext cx="731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2011680" y="526694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Discussion, Conclusion &amp; Future Work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2011680" y="567842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tell a reviewer, honestly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RLTS-MM · B2 Assignment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RLTS-MM?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that tracks cargo trucks moving along Myanmar's key cross-border trade corridors — built end-to-end using AI-assisted “vibe coding” rather than hand-written from scratch.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3375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88036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7" name="Image 0" descr="/private/tmp/claude-501/-Users-acnmacm4-ACNM4-Workstation-AIEF-ACN-AIEF-B2-References-Assignment/ed29fea0-c5c0-440b-b677-e2826945411b/scratchpad/deck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82" y="3059582"/>
            <a:ext cx="281635" cy="28163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703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1148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the system, write effective prompts, and integrate AI-generated components into one working application.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06240" y="2606040"/>
            <a:ext cx="33375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0560" y="288036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/private/tmp/claude-501/-Users-acnmacm4-ACNM4-Workstation-AIEF-ACN-AIEF-B2-References-Assignment/ed29fea0-c5c0-440b-b677-e2826945411b/scratchpad/deck/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782" y="305958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80560" y="3703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480560" y="41148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trade corridors: Yangon → Muse (China) and Yangon → Myawaddy (Thailand).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863840" y="2606040"/>
            <a:ext cx="33375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38160" y="2880360"/>
            <a:ext cx="640080" cy="64008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7" name="Image 2" descr="/private/tmp/claude-501/-Users-acnmacm4-ACNM4-Workstation-AIEF-ACN-AIEF-B2-References-Assignment/ed29fea0-c5c0-440b-b677-e2826945411b/scratchpad/deck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382" y="3059582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38160" y="3703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138160" y="41148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Data Entry Clerk, Trader, and Driver — each with its own RBAC-gated view.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RLTS-MM · B2 Assignment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20827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private/tmp/claude-501/-Users-acnmacm4-ACNM4-Workstation-AIEF-ACN-AIEF-B2-References-Assignment/ed29fea0-c5c0-440b-b677-e2826945411b/scratchpad/deck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12" y="2367016"/>
            <a:ext cx="249448" cy="249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94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Trader, and Driver (plus Clerk) each see only what their role permits — enforced server-side, not just hidden in the UI.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89320" y="15544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45352" y="2208276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1" name="Image 1" descr="/private/tmp/claude-501/-Users-acnmacm4-ACNM4-Workstation-AIEF-ACN-AIEF-B2-References-Assignment/ed29fea0-c5c0-440b-b677-e2826945411b/scratchpad/deck/icons/gau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092" y="2367016"/>
            <a:ext cx="249448" cy="2494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95160" y="18105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Dashboard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995160" y="2194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milestone timeline (Booked → Delivered) plus a simulated live GPS map of the truck.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4357116"/>
            <a:ext cx="566928" cy="566928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6" name="Image 2" descr="/private/tmp/claude-501/-Users-acnmacm4-ACNM4-Workstation-AIEF-ACN-AIEF-B2-References-Assignment/ed29fea0-c5c0-440b-b677-e2826945411b/scratchpad/deck/icons/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412" y="4515856"/>
            <a:ext cx="249448" cy="2494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959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&amp; Route Control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3434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toggles Muse / Myawaddy / Chinshwehaw gate status; affected traders are alerted instantly.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989320" y="37033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45352" y="4357116"/>
            <a:ext cx="566928" cy="566928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21" name="Image 3" descr="/private/tmp/claude-501/-Users-acnmacm4-ACNM4-Workstation-AIEF-ACN-AIEF-B2-References-Assignment/ed29fea0-c5c0-440b-b677-e2826945411b/scratchpad/deck/icons/wi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4092" y="4515856"/>
            <a:ext cx="249448" cy="2494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95160" y="3959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Capability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995160" y="43434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actions queue locally the instant they're made, and sync automatically once reconnected.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RLTS-MM · B2 Assignment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Volatility by Design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moving along Myanmar's Northern (China) and Eastern (Thailand) corridors faces operational hurdles that most commercial telematics platforms simply aren't built for.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4188" y="2441448"/>
            <a:ext cx="603504" cy="603504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7" name="Image 0" descr="/private/tmp/claude-501/-Users-acnmacm4-ACNM4-Workstation-AIEF-ACN-AIEF-B2-References-Assignment/ed29fea0-c5c0-440b-b677-e2826945411b/scratchpad/deck/icons/barr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169" y="2610429"/>
            <a:ext cx="265542" cy="2655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3232" y="3246120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Closures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886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gates and mountain bypasses close abruptly — policy shifts, customs disputes, regional instability.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19272" y="21488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74820" y="2441448"/>
            <a:ext cx="603504" cy="60350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2" name="Image 1" descr="/private/tmp/claude-501/-Users-acnmacm4-ACNM4-Workstation-AIEF-ACN-AIEF-B2-References-Assignment/ed29fea0-c5c0-440b-b677-e2826945411b/scratchpad/deck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801" y="2610429"/>
            <a:ext cx="265542" cy="2655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83864" y="3246120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Inspections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502152" y="3886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Military, customs, and regional checkpoints cause unannounced bottlenecks.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89904" y="21488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045452" y="2441448"/>
            <a:ext cx="603504" cy="603504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17" name="Image 2" descr="/private/tmp/claude-501/-Users-acnmacm4-ACNM4-Workstation-AIEF-ACN-AIEF-B2-References-Assignment/ed29fea0-c5c0-440b-b677-e2826945411b/scratchpad/deck/icons/to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433" y="2610429"/>
            <a:ext cx="265542" cy="2655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54496" y="3246120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Blackouts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6272784" y="3886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Shan Hills and Dawna Range create extended zero-signal dead zones.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860536" y="214884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816084" y="2441448"/>
            <a:ext cx="603504" cy="60350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3" descr="/private/tmp/claude-501/-Users-acnmacm4-ACNM4-Workstation-AIEF-ACN-AIEF-B2-References-Assignment/ed29fea0-c5c0-440b-b677-e2826945411b/scratchpad/deck/icons/ques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065" y="2610429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025128" y="3246120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Asymmetry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9043416" y="3886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lose all visibility the moment cargo leaves the depot.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RLTS-MM · B2 Assignment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Systems, Not Just Prompts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offline-first design borrows specific, cited patterns from field-proven eLMIS/SCM platforms — their actual sync code was read, not just their names.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35915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/private/tmp/claude-501/-Users-acnmacm4-ACNM4-Workstation-AIEF-ACN-AIEF-B2-References-Assignment/ed29fea0-c5c0-440b-b677-e2826945411b/scratchpad/dec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2499970"/>
            <a:ext cx="221285" cy="22128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304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mSupply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67004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changelog, idempotent sync de-duplication, client-vs-server timestamp separation.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0312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45352" y="235915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/private/tmp/claude-501/-Users-acnmacm4-ACNM4-Workstation-AIEF-ACN-AIEF-B2-References-Assignment/ed29fea0-c5c0-440b-b677-e2826945411b/scratchpad/dec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170" y="2499970"/>
            <a:ext cx="221285" cy="22128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03720" y="2304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Logistimo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6903720" y="267004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Structured-SMS fallback channel for extreme, total-blackout connectivity loss.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142232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4672" y="4398264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2" descr="/private/tmp/claude-501/-Users-acnmacm4-ACNM4-Workstation-AIEF-ACN-AIEF-B2-References-Assignment/ed29fea0-c5c0-440b-b677-e2826945411b/scratchpad/dec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4539082"/>
            <a:ext cx="221285" cy="22128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3040" y="4343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OpenLMIS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1463040" y="47091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 never let server data silently overwrite a field operational log.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989320" y="4142232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45352" y="4398264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3" descr="/private/tmp/claude-501/-Users-acnmacm4-ACNM4-Workstation-AIEF-ACN-AIEF-B2-References-Assignment/ed29fea0-c5c0-440b-b677-e2826945411b/scratchpad/dec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170" y="4539082"/>
            <a:ext cx="221285" cy="22128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903720" y="4343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OpenIMIS (Flutter apps)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6903720" y="47091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Connectivity-status stream pattern and a lightweight localization approach.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RLTS-MM · B2 Assignment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2348" y="160020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1008" y="17373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private/tmp/claude-501/-Users-acnmacm4-ACNM4-Workstation-AIEF-ACN-AIEF-B2-References-Assignment/ed29fea0-c5c0-440b-b677-e2826945411b/scratchpad/deck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024" y="1865376"/>
            <a:ext cx="201168" cy="2011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8068" y="22585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889608" y="2788920"/>
            <a:ext cx="0" cy="502920"/>
          </a:xfrm>
          <a:prstGeom prst="line">
            <a:avLst/>
          </a:prstGeom>
          <a:noFill/>
          <a:ln w="25400">
            <a:solidFill>
              <a:srgbClr val="E1E6ED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3055468" y="160020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64128" y="173736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1" name="Image 1" descr="/private/tmp/claude-501/-Users-acnmacm4-ACNM4-Workstation-AIEF-ACN-AIEF-B2-References-Assignment/ed29fea0-c5c0-440b-b677-e2826945411b/scratchpad/deck/icons/box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144" y="186537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101188" y="22585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(Web)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992728" y="2788920"/>
            <a:ext cx="0" cy="502920"/>
          </a:xfrm>
          <a:prstGeom prst="line">
            <a:avLst/>
          </a:prstGeom>
          <a:noFill/>
          <a:ln w="25400">
            <a:solidFill>
              <a:srgbClr val="E1E6ED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158588" y="160020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67248" y="1737360"/>
            <a:ext cx="457200" cy="45720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6" name="Image 2" descr="/private/tmp/claude-501/-Users-acnmacm4-ACNM4-Workstation-AIEF-ACN-AIEF-B2-References-Assignment/ed29fea0-c5c0-440b-b677-e2826945411b/scratchpad/deck/icons/brief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5264" y="1865376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04308" y="22585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(Web)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095848" y="2788920"/>
            <a:ext cx="0" cy="502920"/>
          </a:xfrm>
          <a:prstGeom prst="line">
            <a:avLst/>
          </a:prstGeom>
          <a:noFill/>
          <a:ln w="25400">
            <a:solidFill>
              <a:srgbClr val="E1E6ED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7261708" y="160020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970368" y="1737360"/>
            <a:ext cx="457200" cy="457200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21" name="Image 3" descr="/private/tmp/claude-501/-Users-acnmacm4-ACNM4-Workstation-AIEF-ACN-AIEF-B2-References-Assignment/ed29fea0-c5c0-440b-b677-e2826945411b/scratchpad/deck/icons/deskt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8384" y="1865376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07428" y="22585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PWA)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198968" y="2788920"/>
            <a:ext cx="0" cy="502920"/>
          </a:xfrm>
          <a:prstGeom prst="line">
            <a:avLst/>
          </a:prstGeom>
          <a:noFill/>
          <a:ln w="25400">
            <a:solidFill>
              <a:srgbClr val="E1E6ED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9364828" y="160020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073488" y="1737360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26" name="Image 4" descr="/private/tmp/claude-501/-Users-acnmacm4-ACNM4-Workstation-AIEF-ACN-AIEF-B2-References-Assignment/ed29fea0-c5c0-440b-b677-e2826945411b/scratchpad/deck/icons/mob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1504" y="1865376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410548" y="22585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(Native Android)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10302088" y="2788920"/>
            <a:ext cx="0" cy="502920"/>
          </a:xfrm>
          <a:prstGeom prst="line">
            <a:avLst/>
          </a:prstGeom>
          <a:noFill/>
          <a:ln w="25400">
            <a:solidFill>
              <a:srgbClr val="E1E6ED"/>
            </a:solidFill>
            <a:prstDash val="dash"/>
          </a:ln>
        </p:spPr>
      </p:sp>
      <p:sp>
        <p:nvSpPr>
          <p:cNvPr id="29" name="Shape 22"/>
          <p:cNvSpPr/>
          <p:nvPr/>
        </p:nvSpPr>
        <p:spPr>
          <a:xfrm>
            <a:off x="952348" y="3291840"/>
            <a:ext cx="1028700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180948" y="347472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1" name="Image 5" descr="/private/tmp/claude-501/-Users-acnmacm4-ACNM4-Workstation-AIEF-ACN-AIEF-B2-References-Assignment/ed29fea0-c5c0-440b-b677-e2826945411b/scratchpad/deck/icons/serv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4567" y="362833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912468" y="3456432"/>
            <a:ext cx="9098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Backend API  +  Server-Side Data Store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1912468" y="3794760"/>
            <a:ext cx="9098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server every client polls &amp; writes to — not a per-browser demo state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095848" y="4206240"/>
            <a:ext cx="0" cy="365760"/>
          </a:xfrm>
          <a:prstGeom prst="line">
            <a:avLst/>
          </a:prstGeom>
          <a:noFill/>
          <a:ln w="25400">
            <a:solidFill>
              <a:srgbClr val="E1E6ED"/>
            </a:solidFill>
            <a:prstDash val="dash"/>
          </a:ln>
        </p:spPr>
      </p:sp>
      <p:sp>
        <p:nvSpPr>
          <p:cNvPr id="35" name="Shape 27"/>
          <p:cNvSpPr/>
          <p:nvPr/>
        </p:nvSpPr>
        <p:spPr>
          <a:xfrm>
            <a:off x="4084168" y="457200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4267048" y="4663440"/>
            <a:ext cx="502920" cy="50292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37" name="Image 6" descr="/private/tmp/claude-501/-Users-acnmacm4-ACNM4-Workstation-AIEF-ACN-AIEF-B2-References-Assignment/ed29fea0-c5c0-440b-b677-e2826945411b/scratchpad/deck/icons/clou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7865" y="4804258"/>
            <a:ext cx="221285" cy="22128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4952848" y="47914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Compute Engine VM · pm2</a:t>
            </a:r>
            <a:endParaRPr lang="en-US" sz="1250" dirty="0"/>
          </a:p>
        </p:txBody>
      </p:sp>
      <p:sp>
        <p:nvSpPr>
          <p:cNvPr id="39" name="Text 30"/>
          <p:cNvSpPr txBox="1"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RLTS-MM · B2 Assignment 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5623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private/tmp/claude-501/-Users-acnmacm4-ACNM4-Workstation-AIEF-ACN-AIEF-B2-References-Assignment/ed29fea0-c5c0-440b-b677-e2826945411b/scratchpad/dec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2009851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60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14, React, Tailwind CSS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51960" y="16002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07992" y="1856232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1" name="Image 1" descr="/private/tmp/claude-501/-Users-acnmacm4-ACNM4-Workstation-AIEF-ACN-AIEF-B2-References-Assignment/ed29fea0-c5c0-440b-b677-e2826945411b/scratchpad/dec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611" y="2009851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560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Queue (Web)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Dexie.js over IndexedDB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55280" y="16002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11312" y="1856232"/>
            <a:ext cx="548640" cy="54864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6" name="Image 2" descr="/private/tmp/claude-501/-Users-acnmacm4-ACNM4-Workstation-AIEF-ACN-AIEF-B2-References-Assignment/ed29fea0-c5c0-440b-b677-e2826945411b/scratchpad/deck/icons/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931" y="2009851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83880" y="2560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Driver App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18388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Dart — Android tested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096512"/>
            <a:ext cx="548640" cy="548640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21" name="Image 3" descr="/private/tmp/claude-501/-Users-acnmacm4-ACNM4-Workstation-AIEF-ACN-AIEF-B2-References-Assignment/ed29fea0-c5c0-440b-b677-e2826945411b/scratchpad/deck/icons/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291" y="4250131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800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166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 on Node, file-backed store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51960" y="38404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07992" y="4096512"/>
            <a:ext cx="548640" cy="54864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26" name="Image 4" descr="/private/tmp/claude-501/-Users-acnmacm4-ACNM4-Workstation-AIEF-ACN-AIEF-B2-References-Assignment/ed29fea0-c5c0-440b-b677-e2826945411b/scratchpad/deck/icons/clou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1611" y="4250131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800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166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Compute Engine (Ubuntu) + pm2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955280" y="38404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11312" y="409651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5" descr="/private/tmp/claude-501/-Users-acnmacm4-ACNM4-Workstation-AIEF-ACN-AIEF-B2-References-Assignment/ed29fea0-c5c0-440b-b677-e2826945411b/scratchpad/deck/icons/ro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4931" y="4250131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183880" y="4800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Geometry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183880" y="5166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— queried once offline, baked in as static data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RLTS-MM · B2 Assignment 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 Sync Design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principles borrowed directly from Open mSupply's changelog design: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429000" cy="3749040"/>
          </a:xfrm>
          <a:prstGeom prst="roundRect">
            <a:avLst>
              <a:gd name="adj" fmla="val 2133"/>
            </a:avLst>
          </a:prstGeom>
          <a:solidFill>
            <a:srgbClr val="121D34"/>
          </a:solidFill>
          <a:ln w="12700">
            <a:solidFill>
              <a:srgbClr val="2B3B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423160"/>
            <a:ext cx="685800" cy="6858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7" name="Image 0" descr="/private/tmp/claude-501/-Users-acnmacm4-ACNM4-Workstation-AIEF-ACN-AIEF-B2-References-Assignment/ed29fea0-c5c0-440b-b677-e2826945411b/scratchpad/deck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264" y="2615184"/>
            <a:ext cx="301752" cy="3017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832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E4F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33756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Event Log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0690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events are only ever inserted, never edited or overwritten — the server never silently rewrites a driver's field record.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2103120"/>
            <a:ext cx="3429000" cy="3749040"/>
          </a:xfrm>
          <a:prstGeom prst="roundRect">
            <a:avLst>
              <a:gd name="adj" fmla="val 2133"/>
            </a:avLst>
          </a:prstGeom>
          <a:solidFill>
            <a:srgbClr val="121D34"/>
          </a:solidFill>
          <a:ln w="12700">
            <a:solidFill>
              <a:srgbClr val="2B3B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23560" y="2423160"/>
            <a:ext cx="685800" cy="6858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3" name="Image 1" descr="/private/tmp/claude-501/-Users-acnmacm4-ACNM4-Workstation-AIEF-ACN-AIEF-B2-References-Assignment/ed29fea0-c5c0-440b-b677-e2826945411b/scratchpad/deck/icons/fingerpr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261518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866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E4F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507992" y="333756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Apply via UUID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40690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carries a client-generated UUID. A retried sync batch over unstable 2G can't create duplicate history.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955280" y="2103120"/>
            <a:ext cx="3429000" cy="3749040"/>
          </a:xfrm>
          <a:prstGeom prst="roundRect">
            <a:avLst>
              <a:gd name="adj" fmla="val 2133"/>
            </a:avLst>
          </a:prstGeom>
          <a:solidFill>
            <a:srgbClr val="121D34"/>
          </a:solidFill>
          <a:ln w="12700">
            <a:solidFill>
              <a:srgbClr val="2B3B5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326880" y="2423160"/>
            <a:ext cx="685800" cy="6858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9" name="Image 2" descr="/private/tmp/claude-501/-Users-acnmacm4-ACNM4-Workstation-AIEF-ACN-AIEF-B2-References-Assignment/ed29fea0-c5c0-440b-b677-e2826945411b/scratchpad/deck/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8904" y="261518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7899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E4F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211312" y="333756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client_recorded_at ≠ server_synced_at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8229600" y="40690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truck out of contact for hours still shows its checkpoints in the order they actually happened, not a burst at reconnection.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RLTS-MM · B2 Assignment 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RESULTS &amp; OUTPUTS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Web Portal</a:t>
            </a:r>
            <a:endParaRPr lang="en-US" sz="3000" dirty="0"/>
          </a:p>
        </p:txBody>
      </p:sp>
      <p:pic>
        <p:nvPicPr>
          <p:cNvPr id="4" name="Image 0" descr="/private/tmp/claude-501/-Users-acnmacm4-ACNM4-Workstation-AIEF-ACN-AIEF-B2-References-Assignment/ed29fea0-c5c0-440b-b677-e2826945411b/scratchpad/deck/assets/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508760"/>
            <a:ext cx="2122567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89888" y="1481328"/>
            <a:ext cx="2177431" cy="4398264"/>
          </a:xfrm>
          <a:prstGeom prst="roundRect">
            <a:avLst>
              <a:gd name="adj" fmla="val 2100"/>
            </a:avLst>
          </a:prstGeom>
          <a:ln w="19050">
            <a:solidFill>
              <a:srgbClr val="E1E6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43000" y="5961888"/>
            <a:ext cx="26712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sign-in — 4 accounts, each redirected to its own page</a:t>
            </a:r>
            <a:endParaRPr lang="en-US" sz="1150" dirty="0"/>
          </a:p>
        </p:txBody>
      </p:sp>
      <p:pic>
        <p:nvPicPr>
          <p:cNvPr id="7" name="Image 1" descr="/private/tmp/claude-501/-Users-acnmacm4-ACNM4-Workstation-AIEF-ACN-AIEF-B2-References-Assignment/ed29fea0-c5c0-440b-b677-e2826945411b/scratchpad/deck/assets/adm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7247" y="1508760"/>
            <a:ext cx="2122567" cy="4343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249815" y="1481328"/>
            <a:ext cx="2177431" cy="4398264"/>
          </a:xfrm>
          <a:prstGeom prst="roundRect">
            <a:avLst>
              <a:gd name="adj" fmla="val 2100"/>
            </a:avLst>
          </a:prstGeom>
          <a:ln w="19050">
            <a:solidFill>
              <a:srgbClr val="E1E6E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002927" y="5961888"/>
            <a:ext cx="26712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live KPI cards + a road-following route map, selectable per shipment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RLTS-MM · B2 Assignment 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RESULTS &amp; OUTPUTS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Trader Portal</a:t>
            </a:r>
            <a:endParaRPr lang="en-US" sz="3000" dirty="0"/>
          </a:p>
        </p:txBody>
      </p:sp>
      <p:pic>
        <p:nvPicPr>
          <p:cNvPr id="4" name="Image 0" descr="/private/tmp/claude-501/-Users-acnmacm4-ACNM4-Workstation-AIEF-ACN-AIEF-B2-References-Assignment/ed29fea0-c5c0-440b-b677-e2826945411b/scratchpad/deck/assets/tr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2301309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" y="1435608"/>
            <a:ext cx="2356173" cy="4764024"/>
          </a:xfrm>
          <a:prstGeom prst="roundRect">
            <a:avLst>
              <a:gd name="adj" fmla="val 1940"/>
            </a:avLst>
          </a:prstGeom>
          <a:ln w="19050">
            <a:solidFill>
              <a:srgbClr val="E1E6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764349" y="15544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1" descr="/private/tmp/claude-501/-Users-acnmacm4-ACNM4-Workstation-AIEF-ACN-AIEF-B2-References-Assignment/ed29fea0-c5c0-440b-b677-e2826945411b/scratchpad/deck/icons/gau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167" y="1695298"/>
            <a:ext cx="221285" cy="22128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450149" y="1536192"/>
            <a:ext cx="71929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Stepper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450149" y="1874520"/>
            <a:ext cx="71929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→ In Transit → Checkpoint → Customs → Delivered, live.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764349" y="260604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1" name="Image 2" descr="/private/tmp/claude-501/-Users-acnmacm4-ACNM4-Workstation-AIEF-ACN-AIEF-B2-References-Assignment/ed29fea0-c5c0-440b-b677-e2826945411b/scratchpad/deck/icons/mon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167" y="2746858"/>
            <a:ext cx="221285" cy="22128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450149" y="2587752"/>
            <a:ext cx="71929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Cargo Value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4450149" y="2926080"/>
            <a:ext cx="71929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USD, CNY, or MMK entered at intake, formatted correctly on every screen.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3764349" y="3657600"/>
            <a:ext cx="502920" cy="50292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15" name="Image 3" descr="/private/tmp/claude-501/-Users-acnmacm4-ACNM4-Workstation-AIEF-ACN-AIEF-B2-References-Assignment/ed29fea0-c5c0-440b-b677-e2826945411b/scratchpad/deck/icons/wi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5167" y="3798418"/>
            <a:ext cx="221285" cy="22128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450149" y="3639312"/>
            <a:ext cx="71929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Critical Alerts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4450149" y="3977640"/>
            <a:ext cx="71929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closures reach the Trader independent of the driver's own connectivity.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3764349" y="4709160"/>
            <a:ext cx="502920" cy="50292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9" name="Image 4" descr="/private/tmp/claude-501/-Users-acnmacm4-ACNM4-Workstation-AIEF-ACN-AIEF-B2-References-Assignment/ed29fea0-c5c0-440b-b677-e2826945411b/scratchpad/deck/icons/box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5167" y="4849978"/>
            <a:ext cx="221285" cy="22128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450149" y="4690872"/>
            <a:ext cx="71929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Not Fleet-Wide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4450149" y="5029200"/>
            <a:ext cx="71929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trader account only ever sees its own shipments and cargo value.</a:t>
            </a:r>
            <a:endParaRPr lang="en-US" sz="1150" dirty="0"/>
          </a:p>
        </p:txBody>
      </p:sp>
      <p:sp>
        <p:nvSpPr>
          <p:cNvPr id="22" name="Text 15"/>
          <p:cNvSpPr txBox="1"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RLTS-MM · B2 Assignment 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RESULTS &amp; OUTPUTS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Native Driver App &amp; Live Deployment</a:t>
            </a:r>
            <a:endParaRPr lang="en-US" sz="3000" dirty="0"/>
          </a:p>
        </p:txBody>
      </p:sp>
      <p:pic>
        <p:nvPicPr>
          <p:cNvPr id="4" name="Image 0" descr="/private/tmp/claude-501/-Users-acnmacm4-ACNM4-Workstation-AIEF-ACN-AIEF-B2-References-Assignment/ed29fea0-c5c0-440b-b677-e2826945411b/scratchpad/deck/assets/n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2168824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" y="1435608"/>
            <a:ext cx="2223688" cy="4764024"/>
          </a:xfrm>
          <a:prstGeom prst="roundRect">
            <a:avLst>
              <a:gd name="adj" fmla="val 2056"/>
            </a:avLst>
          </a:prstGeom>
          <a:ln w="19050">
            <a:solidFill>
              <a:srgbClr val="E1E6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31864" y="1554480"/>
            <a:ext cx="80111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3631864" y="2121408"/>
            <a:ext cx="80111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 — TESTED ON EMULATOR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3631864" y="2423160"/>
            <a:ext cx="80111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→ 1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3631864" y="2990088"/>
            <a:ext cx="80111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(NATIVE + WEB) → ONE SHARED BACKEND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3631864" y="3291840"/>
            <a:ext cx="80111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631864" y="3858768"/>
            <a:ext cx="80111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NOW / SYNC REF VERIFIED AGAINST LIVE SERVER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631864" y="4206240"/>
            <a:ext cx="801119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checkpoint logged from this native app was confirmed, via a direct API check, to update the shipment status seen on the web Trader view — proving one real backend, not two separate demos.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31864" y="5440680"/>
            <a:ext cx="8011191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31864" y="5440680"/>
            <a:ext cx="80111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136.85.81.202:3000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RLTS-MM · B2 Assignment 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DISCUSSION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Engineering Reflection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6" name="Image 0" descr="/private/tmp/claude-501/-Users-acnmacm4-ACNM4-Workstation-AIEF-ACN-AIEF-B2-References-Assignment/ed29fea0-c5c0-440b-b677-e2826945411b/scratchpad/deck/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19366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Vibe-coded iteratively with Claude across the full stack, not a single one-shot prompt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reference codebases (Open mSupply, OpenIMIS) were read and cited, not just named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 scripts surfaced a real gap — a missing DELIVERED status transition — before it reached a live demo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sync was verified directly: posting the same event twice only ever applies once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50876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3640" y="1783080"/>
            <a:ext cx="548640" cy="54864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11" name="Image 1" descr="/private/tmp/claude-501/-Users-acnmacm4-ACNM4-Workstation-AIEF-ACN-AIEF-B2-References-Assignment/ed29fea0-c5c0-440b-b677-e2826945411b/scratchpad/deck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259" y="19366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4944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246888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Demo-only authentication — plaintext credentials, no hashing, not production-grade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is a file-backed store, not a real database — fine for a demo, not at scale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conversion uses static, non-live exchange rates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Myanmar translations are AI-generated and not yet reviewed by a native speaker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RLTS-MM · B2 Assignment 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DISCUSSION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121D34"/>
          </a:solidFill>
          <a:ln w="12700">
            <a:solidFill>
              <a:srgbClr val="2B3B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41732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working, tested, multi-role, multi-platform logistics prototype — deployed live, not just designed on paper.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8" name="Image 0" descr="/private/tmp/claude-501/-Users-acnmacm4-ACNM4-Workstation-AIEF-ACN-AIEF-B2-References-Assignment/ed29fea0-c5c0-440b-b677-e2826945411b/scratchpad/dec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5" y="3261665"/>
            <a:ext cx="197510" cy="19751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15568" y="3099816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Supabase / Postgres for real persistence and Realtime push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315468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1" name="Image 1" descr="/private/tmp/claude-501/-Users-acnmacm4-ACNM4-Workstation-AIEF-ACN-AIEF-B2-References-Assignment/ed29fea0-c5c0-440b-b677-e2826945411b/scratchpad/deck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185" y="3261665"/>
            <a:ext cx="197510" cy="1975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739128" y="3099816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dwell-time and average-transit-time KPIs once delivery timestamps exist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813048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4" name="Image 2" descr="/private/tmp/claude-501/-Users-acnmacm4-ACNM4-Workstation-AIEF-ACN-AIEF-B2-References-Assignment/ed29fea0-c5c0-440b-b677-e2826945411b/scratchpad/deck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5" y="3920033"/>
            <a:ext cx="197510" cy="19751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15568" y="3758184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shipment lifecycle with a real DELIVERED transition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72200" y="3813048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7" name="Image 3" descr="/private/tmp/claude-501/-Users-acnmacm4-ACNM4-Workstation-AIEF-ACN-AIEF-B2-References-Assignment/ed29fea0-c5c0-440b-b677-e2826945411b/scratchpad/deck/icons/mob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9185" y="3920033"/>
            <a:ext cx="197510" cy="19751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739128" y="3758184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the native app on iOS, not just Android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4471416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0" name="Image 4" descr="/private/tmp/claude-501/-Users-acnmacm4-ACNM4-Workstation-AIEF-ACN-AIEF-B2-References-Assignment/ed29fea0-c5c0-440b-b677-e2826945411b/scratchpad/deck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5" y="4578401"/>
            <a:ext cx="197510" cy="19751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15568" y="4416552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demo auth with real Supabase Auth against existing RBAC roles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6172200" y="4471416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3" name="Image 5" descr="/private/tmp/claude-501/-Users-acnmacm4-ACNM4-Workstation-AIEF-ACN-AIEF-B2-References-Assignment/ed29fea0-c5c0-440b-b677-e2826945411b/scratchpad/deck/icons/langu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9185" y="4578401"/>
            <a:ext cx="197510" cy="19751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739128" y="4416552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Native-speaker review of all Myanmar-language UI strings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RLTS-MM · B2 Assignment 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554480"/>
            <a:ext cx="1005840" cy="10058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" name="Image 0" descr="/private/tmp/claude-501/-Users-acnmacm4-ACNM4-Workstation-AIEF-ACN-AIEF-B2-References-Assignment/ed29fea0-c5c0-440b-b677-e2826945411b/scratchpad/deck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563" y="1836115"/>
            <a:ext cx="442570" cy="44257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7889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0" y="36118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RLTS-MM  ·  136.85.81.202:3000  ·  B2 Assignment 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1274</Words>
  <Application>Microsoft Macintosh PowerPoint</Application>
  <PresentationFormat>Widescreen</PresentationFormat>
  <Paragraphs>203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RLTS-MM — Real-Time Logistics Monitoring for Myanmar Trading</dc:title>
  <dc:subject>PptxGenJS Presentation</dc:subject>
  <dc:creator>B2 Assignment 5 Team</dc:creator>
  <cp:lastModifiedBy>Aung Chan Nyein</cp:lastModifiedBy>
  <cp:revision>4</cp:revision>
  <dcterms:created xsi:type="dcterms:W3CDTF">2026-09-20T03:36:54Z</dcterms:created>
  <dcterms:modified xsi:type="dcterms:W3CDTF">2026-09-20T03:56:34Z</dcterms:modified>
</cp:coreProperties>
</file>