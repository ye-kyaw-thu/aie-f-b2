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0" r:id="rId21"/>
    <p:sldId id="271" r:id="rId22"/>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11e4090-9bcc-b6ab-3232-e9be92cd8fa7}">
          <p14:sldIdLst>
            <p14:sldId id="256"/>
            <p14:sldId id="257"/>
          </p14:sldIdLst>
        </p14:section>
        <p14:section name="Data" id="{ee2b3239-a6e9-0cb4-2bac-ec39582fe2f1}">
          <p14:sldIdLst>
            <p14:sldId id="258"/>
            <p14:sldId id="259"/>
          </p14:sldIdLst>
        </p14:section>
        <p14:section name="Models" id="{8bd857bd-0b49-7473-a309-c0a68fe733f9}">
          <p14:sldIdLst>
            <p14:sldId id="260"/>
            <p14:sldId id="261"/>
          </p14:sldIdLst>
        </p14:section>
        <p14:section name="Results" id="{0d7c2fd5-44d8-6c59-4863-6d55a62b0af4}">
          <p14:sldIdLst>
            <p14:sldId id="262"/>
            <p14:sldId id="263"/>
          </p14:sldIdLst>
        </p14:section>
        <p14:section name="Error analysis" id="{5fe099d0-d7ff-9b1b-4e38-658ceb5c6a37}">
          <p14:sldIdLst>
            <p14:sldId id="264"/>
            <p14:sldId id="265"/>
            <p14:sldId id="266"/>
            <p14:sldId id="267"/>
          </p14:sldIdLst>
        </p14:section>
        <p14:section name="Discussion" id="{044dc203-95fd-41b4-1dd9-5720614dc0f1}">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  <Relationship Id="rId21" Type="http://schemas.openxmlformats.org/officeDocument/2006/relationships/slide" Target="slides/slide15.xml"/>
  <Relationship Id="rId22" Type="http://schemas.openxmlformats.org/officeDocument/2006/relationships/slide" Target="slides/slide16.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2606D"/>
                </a:solidFill>
                <a:latin typeface="+mn-lt"/>
              </a:defRPr>
            </a:pPr>
            <a:r>
              <a:rPr sz="1400" b="0" i="0" u="none" strike="noStrike">
                <a:solidFill>
                  <a:srgbClr val="52606D"/>
                </a:solidFill>
                <a:latin typeface="+mn-lt"/>
              </a:rPr>
              <a:t>Test macro F1</a:t>
            </a:r>
          </a:p>
        </c:rich>
      </c:tx>
      <c:layout/>
      <c:overlay val="0"/>
    </c:title>
    <c:autoTitleDeleted val="0"/>
    <c:plotArea>
      <c:layout/>
      <c:barChart>
        <c:barDir val="col"/>
        <c:grouping val="clustered"/>
        <c:varyColors val="0"/>
        <c:ser>
          <c:idx val="0"/>
          <c:order val="0"/>
          <c:tx>
            <c:strRef>
              <c:f>Sheet1!$B$1</c:f>
              <c:strCache>
                <c:ptCount val="1"/>
                <c:pt idx="0">
                  <c:v>TF-IDF + linear</c:v>
                </c:pt>
              </c:strCache>
            </c:strRef>
          </c:tx>
          <c:spPr>
            <a:solidFill>
              <a:srgbClr val="2A78D6"/>
            </a:solidFill>
            <a:effectLst/>
          </c:spPr>
          <c:invertIfNegative val="0"/>
          <c:dLbls>
            <c:numFmt formatCode="0.00" sourceLinked="0"/>
            <c:txPr>
              <a:bodyPr/>
              <a:lstStyle/>
              <a:p>
                <a:pPr>
                  <a:defRPr b="0" i="0" strike="noStrike" sz="1100" u="none">
                    <a:solidFill>
                      <a:srgbClr val="52606D"/>
                    </a:solidFill>
                    <a:latin typeface="+mn-lt"/>
                  </a:defRPr>
                </a:pPr>
              </a:p>
            </c:txPr>
            <c:showLegendKey val="0"/>
            <c:showVal val="1"/>
            <c:showCatName val="0"/>
            <c:showSerName val="0"/>
            <c:showPercent val="0"/>
            <c:showBubbleSize val="0"/>
            <c:showLeaderLines val="0"/>
          </c:dLbls>
          <c:cat>
            <c:multiLvlStrRef>
              <c:f>Sheet1!$A$2:$A$4</c:f>
              <c:multiLvlStrCache>
                <c:ptCount val="3"/>
                <c:lvl>
                  <c:pt idx="0">
                    <c:v>Task 1 polarization</c:v>
                  </c:pt>
                  <c:pt idx="1">
                    <c:v>Task 2 type</c:v>
                  </c:pt>
                  <c:pt idx="2">
                    <c:v>Task 3 manifestation</c:v>
                  </c:pt>
                </c:lvl>
              </c:multiLvlStrCache>
            </c:multiLvlStrRef>
          </c:cat>
          <c:val>
            <c:numRef>
              <c:f>Sheet1!$B$2:$B$4</c:f>
              <c:numCache>
                <c:formatCode>General</c:formatCode>
                <c:ptCount val="3"/>
                <c:pt idx="0">
                  <c:v>0.79</c:v>
                </c:pt>
                <c:pt idx="1">
                  <c:v>0.572</c:v>
                </c:pt>
                <c:pt idx="2">
                  <c:v>0.509</c:v>
                </c:pt>
              </c:numCache>
            </c:numRef>
          </c:val>
        </c:ser>
        <c:ser>
          <c:idx val="1"/>
          <c:order val="1"/>
          <c:tx>
            <c:strRef>
              <c:f>Sheet1!$C$1</c:f>
              <c:strCache>
                <c:ptCount val="1"/>
                <c:pt idx="0">
                  <c:v>Bi-LSTM</c:v>
                </c:pt>
              </c:strCache>
            </c:strRef>
          </c:tx>
          <c:spPr>
            <a:solidFill>
              <a:srgbClr val="EB6834"/>
            </a:solidFill>
            <a:effectLst/>
          </c:spPr>
          <c:invertIfNegative val="0"/>
          <c:dLbls>
            <c:numFmt formatCode="0.00" sourceLinked="0"/>
            <c:txPr>
              <a:bodyPr/>
              <a:lstStyle/>
              <a:p>
                <a:pPr>
                  <a:defRPr b="0" i="0" strike="noStrike" sz="1100" u="none">
                    <a:solidFill>
                      <a:srgbClr val="52606D"/>
                    </a:solidFill>
                    <a:latin typeface="+mn-lt"/>
                  </a:defRPr>
                </a:pPr>
              </a:p>
            </c:txPr>
            <c:showLegendKey val="0"/>
            <c:showVal val="1"/>
            <c:showCatName val="0"/>
            <c:showSerName val="0"/>
            <c:showPercent val="0"/>
            <c:showBubbleSize val="0"/>
            <c:showLeaderLines val="0"/>
          </c:dLbls>
          <c:cat>
            <c:multiLvlStrRef>
              <c:f>Sheet1!$A$2:$A$4</c:f>
              <c:multiLvlStrCache>
                <c:ptCount val="3"/>
                <c:lvl>
                  <c:pt idx="0">
                    <c:v>Task 1 polarization</c:v>
                  </c:pt>
                  <c:pt idx="1">
                    <c:v>Task 2 type</c:v>
                  </c:pt>
                  <c:pt idx="2">
                    <c:v>Task 3 manifestation</c:v>
                  </c:pt>
                </c:lvl>
              </c:multiLvlStrCache>
            </c:multiLvlStrRef>
          </c:cat>
          <c:val>
            <c:numRef>
              <c:f>Sheet1!$C$2:$C$4</c:f>
              <c:numCache>
                <c:formatCode>General</c:formatCode>
                <c:ptCount val="3"/>
                <c:pt idx="0">
                  <c:v>0.759</c:v>
                </c:pt>
                <c:pt idx="1">
                  <c:v>0.522</c:v>
                </c:pt>
                <c:pt idx="2">
                  <c:v>0.482</c:v>
                </c:pt>
              </c:numCache>
            </c:numRef>
          </c:val>
        </c:ser>
        <c:ser>
          <c:idx val="2"/>
          <c:order val="2"/>
          <c:tx>
            <c:strRef>
              <c:f>Sheet1!$D$1</c:f>
              <c:strCache>
                <c:ptCount val="1"/>
                <c:pt idx="0">
                  <c:v>Transformer</c:v>
                </c:pt>
              </c:strCache>
            </c:strRef>
          </c:tx>
          <c:spPr>
            <a:solidFill>
              <a:srgbClr val="1BAF7A"/>
            </a:solidFill>
            <a:effectLst/>
          </c:spPr>
          <c:invertIfNegative val="0"/>
          <c:dLbls>
            <c:numFmt formatCode="0.00" sourceLinked="0"/>
            <c:txPr>
              <a:bodyPr/>
              <a:lstStyle/>
              <a:p>
                <a:pPr>
                  <a:defRPr b="0" i="0" strike="noStrike" sz="1100" u="none">
                    <a:solidFill>
                      <a:srgbClr val="52606D"/>
                    </a:solidFill>
                    <a:latin typeface="+mn-lt"/>
                  </a:defRPr>
                </a:pPr>
              </a:p>
            </c:txPr>
            <c:showLegendKey val="0"/>
            <c:showVal val="1"/>
            <c:showCatName val="0"/>
            <c:showSerName val="0"/>
            <c:showPercent val="0"/>
            <c:showBubbleSize val="0"/>
            <c:showLeaderLines val="0"/>
          </c:dLbls>
          <c:cat>
            <c:multiLvlStrRef>
              <c:f>Sheet1!$A$2:$A$4</c:f>
              <c:multiLvlStrCache>
                <c:ptCount val="3"/>
                <c:lvl>
                  <c:pt idx="0">
                    <c:v>Task 1 polarization</c:v>
                  </c:pt>
                  <c:pt idx="1">
                    <c:v>Task 2 type</c:v>
                  </c:pt>
                  <c:pt idx="2">
                    <c:v>Task 3 manifestation</c:v>
                  </c:pt>
                </c:lvl>
              </c:multiLvlStrCache>
            </c:multiLvlStrRef>
          </c:cat>
          <c:val>
            <c:numRef>
              <c:f>Sheet1!$D$2:$D$4</c:f>
              <c:numCache>
                <c:formatCode>General</c:formatCode>
                <c:ptCount val="3"/>
                <c:pt idx="0">
                  <c:v>0.76</c:v>
                </c:pt>
                <c:pt idx="1">
                  <c:v>0.473</c:v>
                </c:pt>
                <c:pt idx="2">
                  <c:v>0.447</c:v>
                </c:pt>
              </c:numCache>
            </c:numRef>
          </c:val>
        </c:ser>
        <c:ser>
          <c:idx val="3"/>
          <c:order val="3"/>
          <c:tx>
            <c:strRef>
              <c:f>Sheet1!$E$1</c:f>
              <c:strCache>
                <c:ptCount val="1"/>
                <c:pt idx="0">
                  <c:v>XLM-R</c:v>
                </c:pt>
              </c:strCache>
            </c:strRef>
          </c:tx>
          <c:spPr>
            <a:solidFill>
              <a:srgbClr val="EDA100"/>
            </a:solidFill>
            <a:effectLst/>
          </c:spPr>
          <c:invertIfNegative val="0"/>
          <c:dLbls>
            <c:numFmt formatCode="0.00" sourceLinked="0"/>
            <c:txPr>
              <a:bodyPr/>
              <a:lstStyle/>
              <a:p>
                <a:pPr>
                  <a:defRPr b="0" i="0" strike="noStrike" sz="1100" u="none">
                    <a:solidFill>
                      <a:srgbClr val="52606D"/>
                    </a:solidFill>
                    <a:latin typeface="+mn-lt"/>
                  </a:defRPr>
                </a:pPr>
              </a:p>
            </c:txPr>
            <c:showLegendKey val="0"/>
            <c:showVal val="1"/>
            <c:showCatName val="0"/>
            <c:showSerName val="0"/>
            <c:showPercent val="0"/>
            <c:showBubbleSize val="0"/>
            <c:showLeaderLines val="0"/>
          </c:dLbls>
          <c:cat>
            <c:multiLvlStrRef>
              <c:f>Sheet1!$A$2:$A$4</c:f>
              <c:multiLvlStrCache>
                <c:ptCount val="3"/>
                <c:lvl>
                  <c:pt idx="0">
                    <c:v>Task 1 polarization</c:v>
                  </c:pt>
                  <c:pt idx="1">
                    <c:v>Task 2 type</c:v>
                  </c:pt>
                  <c:pt idx="2">
                    <c:v>Task 3 manifestation</c:v>
                  </c:pt>
                </c:lvl>
              </c:multiLvlStrCache>
            </c:multiLvlStrRef>
          </c:cat>
          <c:val>
            <c:numRef>
              <c:f>Sheet1!$E$2:$E$4</c:f>
              <c:numCache>
                <c:formatCode>General</c:formatCode>
                <c:ptCount val="3"/>
                <c:pt idx="0">
                  <c:v>0.77</c:v>
                </c:pt>
                <c:pt idx="1">
                  <c:v>0.56</c:v>
                </c:pt>
                <c:pt idx="2">
                  <c:v>0.481</c:v>
                </c:pt>
              </c:numCache>
            </c:numRef>
          </c:val>
        </c:ser>
        <c:dLbls>
          <c:numFmt formatCode="0.00" sourceLinked="0"/>
          <c:txPr>
            <a:bodyPr/>
            <a:lstStyle/>
            <a:p>
              <a:pPr>
                <a:defRPr b="0" i="0" strike="noStrike" sz="1100" u="none">
                  <a:solidFill>
                    <a:srgbClr val="52606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1E5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52606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2606D"/>
                </a:solidFill>
                <a:latin typeface="+mn-lt"/>
              </a:defRPr>
            </a:pPr>
            <a:r>
              <a:rPr sz="1400" b="0" i="0" u="none" strike="noStrike">
                <a:solidFill>
                  <a:srgbClr val="52606D"/>
                </a:solidFill>
                <a:latin typeface="+mn-lt"/>
              </a:rPr>
              <a:t>Task 1 test macro F1</a:t>
            </a:r>
          </a:p>
        </c:rich>
      </c:tx>
      <c:layout/>
      <c:overlay val="0"/>
    </c:title>
    <c:autoTitleDeleted val="0"/>
    <c:plotArea>
      <c:layout/>
      <c:barChart>
        <c:barDir val="col"/>
        <c:grouping val="clustered"/>
        <c:varyColors val="0"/>
        <c:ser>
          <c:idx val="0"/>
          <c:order val="0"/>
          <c:tx>
            <c:strRef>
              <c:f>Sheet1!$B$1</c:f>
              <c:strCache>
                <c:ptCount val="1"/>
                <c:pt idx="0">
                  <c:v>Random split</c:v>
                </c:pt>
              </c:strCache>
            </c:strRef>
          </c:tx>
          <c:spPr>
            <a:solidFill>
              <a:srgbClr val="2A78D6"/>
            </a:solidFill>
            <a:effectLst/>
          </c:spPr>
          <c:invertIfNegative val="0"/>
          <c:dLbls>
            <c:numFmt formatCode="0.00" sourceLinked="0"/>
            <c:txPr>
              <a:bodyPr/>
              <a:lstStyle/>
              <a:p>
                <a:pPr>
                  <a:defRPr b="0" i="0" strike="noStrike" sz="1100" u="none">
                    <a:solidFill>
                      <a:srgbClr val="52606D"/>
                    </a:solidFill>
                    <a:latin typeface="+mn-lt"/>
                  </a:defRPr>
                </a:pPr>
              </a:p>
            </c:txPr>
            <c:showLegendKey val="0"/>
            <c:showVal val="1"/>
            <c:showCatName val="0"/>
            <c:showSerName val="0"/>
            <c:showPercent val="0"/>
            <c:showBubbleSize val="0"/>
            <c:showLeaderLines val="0"/>
          </c:dLbls>
          <c:cat>
            <c:multiLvlStrRef>
              <c:f>Sheet1!$A$2:$A$5</c:f>
              <c:multiLvlStrCache>
                <c:ptCount val="4"/>
                <c:lvl>
                  <c:pt idx="0">
                    <c:v>TF-IDF + linear</c:v>
                  </c:pt>
                  <c:pt idx="1">
                    <c:v>Bi-LSTM</c:v>
                  </c:pt>
                  <c:pt idx="2">
                    <c:v>Transformer</c:v>
                  </c:pt>
                  <c:pt idx="3">
                    <c:v>XLM-R</c:v>
                  </c:pt>
                </c:lvl>
              </c:multiLvlStrCache>
            </c:multiLvlStrRef>
          </c:cat>
          <c:val>
            <c:numRef>
              <c:f>Sheet1!$B$2:$B$5</c:f>
              <c:numCache>
                <c:formatCode>General</c:formatCode>
                <c:ptCount val="4"/>
                <c:pt idx="0">
                  <c:v>0.79</c:v>
                </c:pt>
                <c:pt idx="1">
                  <c:v>0.759</c:v>
                </c:pt>
                <c:pt idx="2">
                  <c:v>0.76</c:v>
                </c:pt>
                <c:pt idx="3">
                  <c:v>0.77</c:v>
                </c:pt>
              </c:numCache>
            </c:numRef>
          </c:val>
        </c:ser>
        <c:ser>
          <c:idx val="1"/>
          <c:order val="1"/>
          <c:tx>
            <c:strRef>
              <c:f>Sheet1!$C$1</c:f>
              <c:strCache>
                <c:ptCount val="1"/>
                <c:pt idx="0">
                  <c:v>Unseen contributors</c:v>
                </c:pt>
              </c:strCache>
            </c:strRef>
          </c:tx>
          <c:spPr>
            <a:solidFill>
              <a:srgbClr val="EB6834"/>
            </a:solidFill>
            <a:effectLst/>
          </c:spPr>
          <c:invertIfNegative val="0"/>
          <c:dLbls>
            <c:numFmt formatCode="0.00" sourceLinked="0"/>
            <c:txPr>
              <a:bodyPr/>
              <a:lstStyle/>
              <a:p>
                <a:pPr>
                  <a:defRPr b="0" i="0" strike="noStrike" sz="1100" u="none">
                    <a:solidFill>
                      <a:srgbClr val="52606D"/>
                    </a:solidFill>
                    <a:latin typeface="+mn-lt"/>
                  </a:defRPr>
                </a:pPr>
              </a:p>
            </c:txPr>
            <c:showLegendKey val="0"/>
            <c:showVal val="1"/>
            <c:showCatName val="0"/>
            <c:showSerName val="0"/>
            <c:showPercent val="0"/>
            <c:showBubbleSize val="0"/>
            <c:showLeaderLines val="0"/>
          </c:dLbls>
          <c:cat>
            <c:multiLvlStrRef>
              <c:f>Sheet1!$A$2:$A$5</c:f>
              <c:multiLvlStrCache>
                <c:ptCount val="4"/>
                <c:lvl>
                  <c:pt idx="0">
                    <c:v>TF-IDF + linear</c:v>
                  </c:pt>
                  <c:pt idx="1">
                    <c:v>Bi-LSTM</c:v>
                  </c:pt>
                  <c:pt idx="2">
                    <c:v>Transformer</c:v>
                  </c:pt>
                  <c:pt idx="3">
                    <c:v>XLM-R</c:v>
                  </c:pt>
                </c:lvl>
              </c:multiLvlStrCache>
            </c:multiLvlStrRef>
          </c:cat>
          <c:val>
            <c:numRef>
              <c:f>Sheet1!$C$2:$C$5</c:f>
              <c:numCache>
                <c:formatCode>General</c:formatCode>
                <c:ptCount val="4"/>
                <c:pt idx="0">
                  <c:v>0.602</c:v>
                </c:pt>
                <c:pt idx="1">
                  <c:v>0.662</c:v>
                </c:pt>
                <c:pt idx="2">
                  <c:v>0.629</c:v>
                </c:pt>
                <c:pt idx="3">
                  <c:v>0.658</c:v>
                </c:pt>
              </c:numCache>
            </c:numRef>
          </c:val>
        </c:ser>
        <c:dLbls>
          <c:numFmt formatCode="0.00" sourceLinked="0"/>
          <c:txPr>
            <a:bodyPr/>
            <a:lstStyle/>
            <a:p>
              <a:pPr>
                <a:defRPr b="0" i="0" strike="noStrike" sz="1100" u="none">
                  <a:solidFill>
                    <a:srgbClr val="52606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1E5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52606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မင်္ဂလာပါ။ Group 3 ရဲ့ Assignment 7 ပါ။ myPolar data နဲ့ Task 1, 2, 3 ကို traditional ML နဲ့ neural model တွေ နှိုင်းယှဉ်ထားပါတယ်။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သုံးခုပါ။ Task 1 က polarized ဟုတ်/မဟုတ် binary။ Task 2 က type 5 မျိုး၊ Task 3 က manifestation 6 မျိုး၊ နှစ်ခုလုံး multi-label ပါ။ အဓိက တွေ့ရှိချက် လေးခုကို ညာဘက်မှာ ပြထားပါတယ်။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Assignment-2 က annotator file 25 ခုကို merge လုပ်ပါတယ်။ Raw 12,010 rows၊ merged 11,710။ Exact duplicate 1,000 ဖယ်ပြီး 10,710 ကျန်ပါတယ်။ Manifestation label မပါတဲ့ file တွေကြောင့် Task 3 က 10,116 ပါ။ Polarization 0 ဖြစ်တဲ့ row တွေရဲ့ type / manifestation label ကို 0 ပြန်ထားပါတယ်။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ဆရာပြောထားသလို အဆင့် နှစ်ဆင့် ခွဲထားပါတယ်။ Stage 1 မှာ source link၊ annotator file အားလုံးပါပါတယ်။ Stage 2 က model အတွက် id, text, label ပဲ ပါပါတယ်။ Split က stratified 80/10/10၊ model အားလုံး ဒီ split တစ်ခုတည်း သုံးပါတယ်။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က TF-IDF နဲ့ linear classifier ပါ။ Task 1 မှာ Logistic Regression၊ Task 2, 3 မှာ LinearSVC။ C ကို validation မှာ ရွေးပြီး test ကို တစ်ခါပဲ သုံးပါတယ်။ Majority baseline ထက် အများကြီး သာပါတယ်။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 model သုံးခုပါ။ Bi-LSTM နဲ့ Transformer က syllable input၊ from scratch၊ seed 3 ခု။ XLM-R က fine-tuning၊ memory 16 GB ကြောင့် token embedding ကို freeze ထားပြီး 1 run ပဲ လုပ်နိုင်ပါတယ်။ Metric က macro F1၊ best epoch ကို validation မှာ ရွေးပါတယ်။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split မှာ TF-IDF baseline က task သုံးခုလုံး အကောင်းဆုံးပါ။ XLM-R က အနီးဆုံး၊ Task 1 မှာ 0.02၊ Task 2 မှာ 0.01 ကွာပါတယ်။ Transformer from scratch က Task 2, 3 မှာ အနိမ့်ဆုံးပါ။ Task 1 ကနေ Task 3 ကို တဖြည်းဖြည်း ခက်လာပါတယ်။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Polarization rate က contributor အလိုက် 0% ကနေ 99% အထိ ကွာပါတယ်။ Contributor တစ်ယောက်လုံးကို held-out လုပ်ကြည့်တော့ model အားလုံး 0.10 ကနေ 0.19 ကျပါတယ်။ TF-IDF က အများဆုံး ကျပြီး Bi-LSTM နဲ့ XLM-R က ပိုခံနိုင်ပါတယ်။ Random split score ရဲ့ တစ်စိတ်တစ်ပိုင်းက contributor ကို မှတ်မိတာပါ။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Classifier တူတူ၊ input unit ပဲ ပြောင်းကြည့်ပါတယ်။ Word က model နှစ်ခုလုံးမှာ အဆိုးဆုံးပါ။ Contributor အလိုက် segmentation မတူလို့ test word token ရဲ့ 34% က training vocabulary ထဲ မရှိပါဘူး။ TF-IDF က character n-gram နဲ့၊ Bi-LSTM က syllable နဲ့ အကောင်းဆုံးပါ။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test set 1,071 ကြောင်းမှာ TF-IDF က 225 မှား၊ Bi-LSTM က 259 မှားပါတယ်။ စာကြောင်းတိုတွေက အခက်ဆုံးပါ။ Unsegmented text မှာ TF-IDF က polarized စာကြောင်းရဲ့ 55% ကို လွတ်ပါတယ်။ Bi-LSTM က syllable ဖတ်တာမို့ segmentation ကို မမှီခိုပါဘူး။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နှစ်ခုက မတူတဲ့ စာကြောင်းတွေမှာ မှားပါတယ်။ နှစ်ခုလုံး မှားတာ 136၊ တစ်ခုပဲ မှန်တာ 212 ပါ။ Ensemble လုပ်ရင် တိုးနိုင်ပါတယ်။ TF-IDF ရဲ့ အားအကောင်းဆုံး feature တွေထဲမှာ ဆဲစကားတွေအပြင် သတင်းစာ style ရဲ့ sentence ending တွေလည်း ပါပါတယ်။ Confident error တချို့က label noise လို့ ထင်ရပါတယ်၊ sample ပဲ ဖတ်ထားတာပါ။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3 မှာ label တိုင်း recall က precision ထက် မြင့်ပါတယ်၊ model က over-predict လုပ်ပါတယ်။ Task 2 မှာ လွတ်သွားတဲ့အခါ တစ်ဝက်လောက်က ဘာ type မှ မခန့်မှန်းပါဘူး။ Task 3 မှာ label အချင်းချင်း ရောပါတယ်၊ dehumanization လွတ်ရင် 64% က vilification လို့ ခန့်မှန်းပါတယ်။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အနှစ်ချုပ်ပါ။ Data နည်းတော့ TF-IDF က အားကောင်းပါတယ်။ ဒါပေမဲ့ random split score က contributor effect ကြောင့် မြင့်နေတာပါ။ Unseen contributor မှာ neural model တွေက ပိုခံနိုင်ပါတယ်။ Explicit label တွေက လွယ်ပြီး implicit label တွေက ခက်ပါတယ်။ 0.01–0.04 ကွာတာက noise အတွင်းမှာပါ၊ split ပြောင်းရင် ranking ပြောင်းပါတယ်။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 တွေက XLM-R ကို 1 run ပဲ လုပ်နိုင်တာ၊ sentence အများစုကို annotator တစ်ယောက်တည်း label လုပ်ထားတာ၊ provenance ကွက်လပ် ရှိတာပါ။ ရှေ့ဆက် annotation guideline ညှိဖို့၊ segmentation တစ်ပုံစံတည်း လုပ်ဖို့၊ XLM-R ကို tuning လုပ်ဖို့၊ ensemble စမ်းဖို့ပါ။ ကျေးဇူးတင်ပါတယ်။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Thein Kyaw Lwin က final_dataset.csv တစ်ခုတည်းကို သုံးပြီး သီးခြား experiment တစ်ခု လုပ်ထားပါတယ်။ Model တစ်ခုတည်းက Task သုံးခုလုံးကို တပြိုင်နက် ခန့်မှန်းပါတယ်။ Cleaning၊ segmentation နဲ့ split မတူတဲ့အတွက် သူ့ test sentence တစ်ဝက်လောက်က အဖွဲ့ရဲ့ training split ထဲမှာ ရှိနေပါတယ်။ ဒါကြောင့် score တွေကို တိုက်ရိုက် နှိုင်းယှဉ်လို့ မရပါဘူး။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7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နှိုင်းယှဉ်နိုင်ဖို့ အဖွဲ့ရဲ့ TF-IDF baseline ကို သူ့ split ပေါ်မှာ ပြန် run ထားပါတယ်။ ဒီ split မှာတော့ baseline ကို ကျော်နိုင်ပါတယ်။ Task 1 မှာ XLM-R က 0.04၊ Task 2 မှာ syllable Bi-LSTM က 0.02 သာပါတယ်။ Baseline score ကျတာရဲ့ တစ်စိတ်တစ်ပိုင်းက original_id မပါတဲ့ row 1,200 ကို ဖယ်ထားလို့ပါ၊ အဲဒီ row တွေက baseline အတွက် လွယ်တဲ့ row တွေပါ။ Class weight မပါရင် XLM-R က Task 2, 3 မှာ minority label တွေကို မခန့်မှန်းနိုင်ပါဘူး။ Syllable က word ထက် ကောင်းတာကိုလည်း ထပ်တွေ့ရပါတယ်။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7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10908792" cy="13716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640080" y="3566160"/>
            <a:ext cx="10908792" cy="146304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10908792" cy="1371600"/>
          </a:xfrm>
          <a:prstGeom prst="rect">
            <a:avLst/>
          </a:prstGeom>
          <a:noFill/>
          <a:ln/>
        </p:spPr>
        <p:txBody>
          <a:bodyPr wrap="square" lIns="0" tIns="0" rIns="0" bIns="0" rtlCol="0" anchor="b"/>
          <a:lstStyle/>
          <a:p>
            <a:pPr algn="l" indent="0" marL="0">
              <a:buNone/>
            </a:pPr>
            <a:r>
              <a:rPr lang="en-US" sz="4000" b="1" dirty="0">
                <a:solidFill>
                  <a:schemeClr val="tx1"/>
                </a:solidFill>
              </a:rPr>
              <a:t>myPolar: Polarization Detection, Type and Manifestation</a:t>
            </a:r>
            <a:endParaRPr lang="en-US" sz="4000" dirty="0"/>
          </a:p>
        </p:txBody>
      </p:sp>
      <p:sp>
        <p:nvSpPr>
          <p:cNvPr id="3" name="Text 0"/>
          <p:cNvSpPr/>
          <p:nvPr>
            <p:ph idx="101" type="body" hasCustomPrompt="1"/>
          </p:nvPr>
        </p:nvSpPr>
        <p:spPr>
          <a:xfrm>
            <a:off x="640080" y="3566160"/>
            <a:ext cx="10908792" cy="1463040"/>
          </a:xfrm>
          <a:prstGeom prst="rect">
            <a:avLst/>
          </a:prstGeom>
          <a:noFill/>
          <a:ln/>
        </p:spPr>
        <p:txBody>
          <a:bodyPr wrap="square" lIns="0" tIns="0" rIns="0" bIns="0" rtlCol="0" anchor="t"/>
          <a:lstStyle/>
          <a:p>
            <a:pPr algn="l" indent="0" marL="0">
              <a:buNone/>
            </a:pPr>
            <a:r>
              <a:rPr lang="en-US" sz="2000" dirty="0">
                <a:solidFill>
                  <a:schemeClr val="tx2"/>
                </a:solidFill>
              </a:rPr>
              <a:t>Traditional ML vs. Bi-LSTM, Transformer and XLM-RoBERTa</a:t>
            </a:r>
            <a:endParaRPr lang="en-US" sz="2000" dirty="0"/>
          </a:p>
          <a:p>
            <a:pPr algn="l" indent="0" marL="0">
              <a:buNone/>
            </a:pPr>
            <a:r>
              <a:rPr lang="en-US" sz="2000" dirty="0">
                <a:solidFill>
                  <a:schemeClr val="tx2"/>
                </a:solidFill>
              </a:rPr>
              <a:t>Group 3  |  Assignment 7  |  AI Engineering (Fundamental), Batch 2  |  11 Oct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Three tasks, one dataset</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7132320" cy="914400"/>
        </p:xfrm>
        <a:graphic>
          <a:graphicData uri="http://schemas.openxmlformats.org/drawingml/2006/table">
            <a:tbl>
              <a:tblPr/>
              <a:tblGrid>
                <a:gridCol w="731520"/>
                <a:gridCol w="2468880"/>
                <a:gridCol w="1554480"/>
                <a:gridCol w="2377440"/>
              </a:tblGrid>
              <a:tr h="914400">
                <a:tc>
                  <a:txBody>
                    <a:bodyPr/>
                    <a:lstStyle/>
                    <a:p>
                      <a:pPr algn="l" indent="0" marL="0">
                        <a:buNone/>
                      </a:pPr>
                      <a:r>
                        <a:rPr lang="en-US" sz="1600" b="1" dirty="0">
                          <a:solidFill>
                            <a:schemeClr val="tx1"/>
                          </a:solidFill>
                        </a:rPr>
                        <a:t>Task</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Question</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Type</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Labels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r>
              <a:tr h="914400">
                <a:tc>
                  <a:txBody>
                    <a:bodyPr/>
                    <a:lstStyle/>
                    <a:p>
                      <a:pPr algn="l" indent="0" marL="0">
                        <a:buNone/>
                      </a:pPr>
                      <a:r>
                        <a:rPr lang="en-US" sz="1600" dirty="0">
                          <a:solidFill>
                            <a:schemeClr val="tx1"/>
                          </a:solidFill>
                        </a:rPr>
                        <a:t>1</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Is the sentence polarized?</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Binary</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polarization</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914400">
                <a:tc>
                  <a:txBody>
                    <a:bodyPr/>
                    <a:lstStyle/>
                    <a:p>
                      <a:pPr algn="l" indent="0" marL="0">
                        <a:buNone/>
                      </a:pPr>
                      <a:r>
                        <a:rPr lang="en-US" sz="1600" dirty="0">
                          <a:solidFill>
                            <a:schemeClr val="tx1"/>
                          </a:solidFill>
                        </a:rPr>
                        <a:t>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What is it about?</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Multi-label (5)</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political, racial/ethnic, religious, gender/sexual, other</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914400">
                <a:tc>
                  <a:txBody>
                    <a:bodyPr/>
                    <a:lstStyle/>
                    <a:p>
                      <a:pPr algn="l" indent="0" marL="0">
                        <a:buNone/>
                      </a:pPr>
                      <a:r>
                        <a:rPr lang="en-US" sz="1600" dirty="0">
                          <a:solidFill>
                            <a:schemeClr val="tx1"/>
                          </a:solidFill>
                        </a:rPr>
                        <a:t>3</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How is it expressed?</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Multi-label (6)</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stereotype, vilification, dehumanization, extreme language, lack of empathy, invalidation</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8229600" y="1417320"/>
            <a:ext cx="3319272" cy="365760"/>
          </a:xfrm>
          <a:prstGeom prst="rect">
            <a:avLst/>
          </a:prstGeom>
          <a:noFill/>
          <a:ln/>
        </p:spPr>
        <p:txBody>
          <a:bodyPr wrap="square" lIns="0" tIns="0" rIns="0" bIns="0" rtlCol="0" anchor="ctr"/>
          <a:lstStyle/>
          <a:p>
            <a:pPr indent="0" marL="0">
              <a:buNone/>
            </a:pPr>
            <a:r>
              <a:rPr lang="en-US" sz="1600" b="1" dirty="0">
                <a:solidFill>
                  <a:schemeClr val="tx2"/>
                </a:solidFill>
              </a:rPr>
              <a:t>Main findings</a:t>
            </a:r>
            <a:endParaRPr lang="en-US" sz="1600" dirty="0"/>
          </a:p>
        </p:txBody>
      </p:sp>
      <p:sp>
        <p:nvSpPr>
          <p:cNvPr id="6" name="Text 2"/>
          <p:cNvSpPr txBox="1"/>
          <p:nvPr/>
        </p:nvSpPr>
        <p:spPr>
          <a:xfrm>
            <a:off x="8229600" y="1920240"/>
            <a:ext cx="3319272" cy="420624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TF-IDF baseline is best </a:t>
            </a:r>
            <a:pPr indent="0" marL="0">
              <a:spcAft>
                <a:spcPts val="1000"/>
              </a:spcAft>
              <a:buNone/>
            </a:pPr>
            <a:r>
              <a:rPr lang="en-US" sz="2000" dirty="0">
                <a:solidFill>
                  <a:schemeClr val="tx1"/>
                </a:solidFill>
              </a:rPr>
              <a:t>on the random test split, for all three tasks.</a:t>
            </a:r>
            <a:endParaRPr lang="en-US" sz="2000" dirty="0"/>
          </a:p>
          <a:p>
            <a:pPr indent="0" marL="0">
              <a:spcAft>
                <a:spcPts val="1000"/>
              </a:spcAft>
              <a:buNone/>
            </a:pPr>
            <a:r>
              <a:rPr lang="en-US" sz="2000" b="1" dirty="0">
                <a:solidFill>
                  <a:schemeClr val="tx1"/>
                </a:solidFill>
              </a:rPr>
              <a:t>The ranking reverses </a:t>
            </a:r>
            <a:pPr indent="0" marL="0">
              <a:spcAft>
                <a:spcPts val="1000"/>
              </a:spcAft>
              <a:buNone/>
            </a:pPr>
            <a:r>
              <a:rPr lang="en-US" sz="2000" dirty="0">
                <a:solidFill>
                  <a:schemeClr val="tx1"/>
                </a:solidFill>
              </a:rPr>
              <a:t>when whole contributors are held out.</a:t>
            </a:r>
            <a:endParaRPr lang="en-US" sz="2000" dirty="0"/>
          </a:p>
          <a:p>
            <a:pPr indent="0" marL="0">
              <a:spcAft>
                <a:spcPts val="1000"/>
              </a:spcAft>
              <a:buNone/>
            </a:pPr>
            <a:r>
              <a:rPr lang="en-US" sz="2000" b="1" dirty="0">
                <a:solidFill>
                  <a:schemeClr val="tx1"/>
                </a:solidFill>
              </a:rPr>
              <a:t>Syllables and characters beat words </a:t>
            </a:r>
            <a:pPr indent="0" marL="0">
              <a:spcAft>
                <a:spcPts val="1000"/>
              </a:spcAft>
              <a:buNone/>
            </a:pPr>
            <a:r>
              <a:rPr lang="en-US" sz="2000" dirty="0">
                <a:solidFill>
                  <a:schemeClr val="tx1"/>
                </a:solidFill>
              </a:rPr>
              <a:t>as the input unit.</a:t>
            </a:r>
            <a:endParaRPr lang="en-US" sz="2000" dirty="0"/>
          </a:p>
          <a:p>
            <a:pPr indent="0" marL="0">
              <a:spcAft>
                <a:spcPts val="1000"/>
              </a:spcAft>
              <a:buNone/>
            </a:pPr>
            <a:r>
              <a:rPr lang="en-US" sz="2000" b="1" dirty="0">
                <a:solidFill>
                  <a:schemeClr val="tx1"/>
                </a:solidFill>
              </a:rPr>
              <a:t>On a second split, </a:t>
            </a:r>
            <a:pPr indent="0" marL="0">
              <a:spcAft>
                <a:spcPts val="1000"/>
              </a:spcAft>
              <a:buNone/>
            </a:pPr>
            <a:r>
              <a:rPr lang="en-US" sz="2000" dirty="0">
                <a:solidFill>
                  <a:schemeClr val="tx1"/>
                </a:solidFill>
              </a:rPr>
              <a:t>XLM-R and a syllable Bi-LSTM beat the baseline.</a:t>
            </a:r>
            <a:endParaRPr lang="en-US" sz="20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Preprocessing: from 25 files to one dataset</a:t>
            </a:r>
            <a:endParaRPr lang="en-US" sz="3000" dirty="0"/>
          </a:p>
        </p:txBody>
      </p:sp>
      <p:sp>
        <p:nvSpPr>
          <p:cNvPr id="4" name="Shape 1"/>
          <p:cNvSpPr/>
          <p:nvPr/>
        </p:nvSpPr>
        <p:spPr>
          <a:xfrm>
            <a:off x="640080" y="1417320"/>
            <a:ext cx="2377440" cy="1600200"/>
          </a:xfrm>
          <a:prstGeom prst="rect">
            <a:avLst/>
          </a:prstGeom>
          <a:solidFill>
            <a:schemeClr val="bg2"/>
          </a:solidFill>
          <a:ln w="12700">
            <a:solidFill>
              <a:schemeClr val="bg2"/>
            </a:solidFill>
            <a:prstDash val="solid"/>
          </a:ln>
        </p:spPr>
      </p:sp>
      <p:sp>
        <p:nvSpPr>
          <p:cNvPr id="5" name="Text 2"/>
          <p:cNvSpPr txBox="1"/>
          <p:nvPr/>
        </p:nvSpPr>
        <p:spPr>
          <a:xfrm>
            <a:off x="822960" y="1554480"/>
            <a:ext cx="2011680" cy="640080"/>
          </a:xfrm>
          <a:prstGeom prst="rect">
            <a:avLst/>
          </a:prstGeom>
          <a:noFill/>
          <a:ln/>
        </p:spPr>
        <p:txBody>
          <a:bodyPr wrap="square" lIns="0" tIns="0" rIns="0" bIns="0" rtlCol="0" anchor="ctr"/>
          <a:lstStyle/>
          <a:p>
            <a:pPr indent="0" marL="0">
              <a:buNone/>
            </a:pPr>
            <a:r>
              <a:rPr lang="en-US" sz="3200" b="1" dirty="0">
                <a:solidFill>
                  <a:schemeClr val="tx1"/>
                </a:solidFill>
              </a:rPr>
              <a:t>12,010</a:t>
            </a:r>
            <a:endParaRPr lang="en-US" sz="3200" dirty="0"/>
          </a:p>
        </p:txBody>
      </p:sp>
      <p:sp>
        <p:nvSpPr>
          <p:cNvPr id="6" name="Text 3"/>
          <p:cNvSpPr txBox="1"/>
          <p:nvPr/>
        </p:nvSpPr>
        <p:spPr>
          <a:xfrm>
            <a:off x="822960" y="2194560"/>
            <a:ext cx="2011680" cy="685800"/>
          </a:xfrm>
          <a:prstGeom prst="rect">
            <a:avLst/>
          </a:prstGeom>
          <a:noFill/>
          <a:ln/>
        </p:spPr>
        <p:txBody>
          <a:bodyPr wrap="square" lIns="0" tIns="0" rIns="0" bIns="0" rtlCol="0" anchor="t"/>
          <a:lstStyle/>
          <a:p>
            <a:pPr indent="0" marL="0">
              <a:buNone/>
            </a:pPr>
            <a:r>
              <a:rPr lang="en-US" sz="1400" dirty="0">
                <a:solidFill>
                  <a:schemeClr val="tx2"/>
                </a:solidFill>
              </a:rPr>
              <a:t>rows in 25 annotator files</a:t>
            </a:r>
            <a:endParaRPr lang="en-US" sz="1400" dirty="0"/>
          </a:p>
        </p:txBody>
      </p:sp>
      <p:sp>
        <p:nvSpPr>
          <p:cNvPr id="7" name="Text 4"/>
          <p:cNvSpPr txBox="1"/>
          <p:nvPr/>
        </p:nvSpPr>
        <p:spPr>
          <a:xfrm>
            <a:off x="3017520" y="1920240"/>
            <a:ext cx="466344" cy="548640"/>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8" name="Shape 5"/>
          <p:cNvSpPr/>
          <p:nvPr/>
        </p:nvSpPr>
        <p:spPr>
          <a:xfrm>
            <a:off x="3483864" y="1417320"/>
            <a:ext cx="2377440" cy="1600200"/>
          </a:xfrm>
          <a:prstGeom prst="rect">
            <a:avLst/>
          </a:prstGeom>
          <a:solidFill>
            <a:schemeClr val="bg2"/>
          </a:solidFill>
          <a:ln w="12700">
            <a:solidFill>
              <a:schemeClr val="bg2"/>
            </a:solidFill>
            <a:prstDash val="solid"/>
          </a:ln>
        </p:spPr>
      </p:sp>
      <p:sp>
        <p:nvSpPr>
          <p:cNvPr id="9" name="Text 6"/>
          <p:cNvSpPr txBox="1"/>
          <p:nvPr/>
        </p:nvSpPr>
        <p:spPr>
          <a:xfrm>
            <a:off x="3666744" y="1554480"/>
            <a:ext cx="2011680" cy="640080"/>
          </a:xfrm>
          <a:prstGeom prst="rect">
            <a:avLst/>
          </a:prstGeom>
          <a:noFill/>
          <a:ln/>
        </p:spPr>
        <p:txBody>
          <a:bodyPr wrap="square" lIns="0" tIns="0" rIns="0" bIns="0" rtlCol="0" anchor="ctr"/>
          <a:lstStyle/>
          <a:p>
            <a:pPr indent="0" marL="0">
              <a:buNone/>
            </a:pPr>
            <a:r>
              <a:rPr lang="en-US" sz="3200" b="1" dirty="0">
                <a:solidFill>
                  <a:schemeClr val="tx1"/>
                </a:solidFill>
              </a:rPr>
              <a:t>11,710</a:t>
            </a:r>
            <a:endParaRPr lang="en-US" sz="3200" dirty="0"/>
          </a:p>
        </p:txBody>
      </p:sp>
      <p:sp>
        <p:nvSpPr>
          <p:cNvPr id="10" name="Text 7"/>
          <p:cNvSpPr txBox="1"/>
          <p:nvPr/>
        </p:nvSpPr>
        <p:spPr>
          <a:xfrm>
            <a:off x="3666744" y="2194560"/>
            <a:ext cx="2011680" cy="685800"/>
          </a:xfrm>
          <a:prstGeom prst="rect">
            <a:avLst/>
          </a:prstGeom>
          <a:noFill/>
          <a:ln/>
        </p:spPr>
        <p:txBody>
          <a:bodyPr wrap="square" lIns="0" tIns="0" rIns="0" bIns="0" rtlCol="0" anchor="t"/>
          <a:lstStyle/>
          <a:p>
            <a:pPr indent="0" marL="0">
              <a:buNone/>
            </a:pPr>
            <a:r>
              <a:rPr lang="en-US" sz="1400" dirty="0">
                <a:solidFill>
                  <a:schemeClr val="tx2"/>
                </a:solidFill>
              </a:rPr>
              <a:t>rows in the merged dataset</a:t>
            </a:r>
            <a:endParaRPr lang="en-US" sz="1400" dirty="0"/>
          </a:p>
        </p:txBody>
      </p:sp>
      <p:sp>
        <p:nvSpPr>
          <p:cNvPr id="11" name="Text 8"/>
          <p:cNvSpPr txBox="1"/>
          <p:nvPr/>
        </p:nvSpPr>
        <p:spPr>
          <a:xfrm>
            <a:off x="5861304" y="1920240"/>
            <a:ext cx="466344" cy="548640"/>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12" name="Shape 9"/>
          <p:cNvSpPr/>
          <p:nvPr/>
        </p:nvSpPr>
        <p:spPr>
          <a:xfrm>
            <a:off x="6327648" y="1417320"/>
            <a:ext cx="2377440" cy="1600200"/>
          </a:xfrm>
          <a:prstGeom prst="rect">
            <a:avLst/>
          </a:prstGeom>
          <a:solidFill>
            <a:schemeClr val="bg2"/>
          </a:solidFill>
          <a:ln w="12700">
            <a:solidFill>
              <a:schemeClr val="bg2"/>
            </a:solidFill>
            <a:prstDash val="solid"/>
          </a:ln>
        </p:spPr>
      </p:sp>
      <p:sp>
        <p:nvSpPr>
          <p:cNvPr id="13" name="Text 10"/>
          <p:cNvSpPr txBox="1"/>
          <p:nvPr/>
        </p:nvSpPr>
        <p:spPr>
          <a:xfrm>
            <a:off x="6510528" y="1554480"/>
            <a:ext cx="2011680" cy="640080"/>
          </a:xfrm>
          <a:prstGeom prst="rect">
            <a:avLst/>
          </a:prstGeom>
          <a:noFill/>
          <a:ln/>
        </p:spPr>
        <p:txBody>
          <a:bodyPr wrap="square" lIns="0" tIns="0" rIns="0" bIns="0" rtlCol="0" anchor="ctr"/>
          <a:lstStyle/>
          <a:p>
            <a:pPr indent="0" marL="0">
              <a:buNone/>
            </a:pPr>
            <a:r>
              <a:rPr lang="en-US" sz="3200" b="1" dirty="0">
                <a:solidFill>
                  <a:schemeClr val="tx1"/>
                </a:solidFill>
              </a:rPr>
              <a:t>10,710</a:t>
            </a:r>
            <a:endParaRPr lang="en-US" sz="3200" dirty="0"/>
          </a:p>
        </p:txBody>
      </p:sp>
      <p:sp>
        <p:nvSpPr>
          <p:cNvPr id="14" name="Text 11"/>
          <p:cNvSpPr txBox="1"/>
          <p:nvPr/>
        </p:nvSpPr>
        <p:spPr>
          <a:xfrm>
            <a:off x="6510528" y="2194560"/>
            <a:ext cx="2011680" cy="685800"/>
          </a:xfrm>
          <a:prstGeom prst="rect">
            <a:avLst/>
          </a:prstGeom>
          <a:noFill/>
          <a:ln/>
        </p:spPr>
        <p:txBody>
          <a:bodyPr wrap="square" lIns="0" tIns="0" rIns="0" bIns="0" rtlCol="0" anchor="t"/>
          <a:lstStyle/>
          <a:p>
            <a:pPr indent="0" marL="0">
              <a:buNone/>
            </a:pPr>
            <a:r>
              <a:rPr lang="en-US" sz="1400" dirty="0">
                <a:solidFill>
                  <a:schemeClr val="tx2"/>
                </a:solidFill>
              </a:rPr>
              <a:t>sentences after removing duplicates (Task 1, 2)</a:t>
            </a:r>
            <a:endParaRPr lang="en-US" sz="1400" dirty="0"/>
          </a:p>
        </p:txBody>
      </p:sp>
      <p:sp>
        <p:nvSpPr>
          <p:cNvPr id="15" name="Text 12"/>
          <p:cNvSpPr txBox="1"/>
          <p:nvPr/>
        </p:nvSpPr>
        <p:spPr>
          <a:xfrm>
            <a:off x="8705088" y="1920240"/>
            <a:ext cx="466344" cy="548640"/>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16" name="Shape 13"/>
          <p:cNvSpPr/>
          <p:nvPr/>
        </p:nvSpPr>
        <p:spPr>
          <a:xfrm>
            <a:off x="9171432" y="1417320"/>
            <a:ext cx="2377440" cy="1600200"/>
          </a:xfrm>
          <a:prstGeom prst="rect">
            <a:avLst/>
          </a:prstGeom>
          <a:solidFill>
            <a:schemeClr val="bg2"/>
          </a:solidFill>
          <a:ln w="12700">
            <a:solidFill>
              <a:schemeClr val="bg2"/>
            </a:solidFill>
            <a:prstDash val="solid"/>
          </a:ln>
        </p:spPr>
      </p:sp>
      <p:sp>
        <p:nvSpPr>
          <p:cNvPr id="17" name="Text 14"/>
          <p:cNvSpPr txBox="1"/>
          <p:nvPr/>
        </p:nvSpPr>
        <p:spPr>
          <a:xfrm>
            <a:off x="9354312" y="1554480"/>
            <a:ext cx="2011680" cy="640080"/>
          </a:xfrm>
          <a:prstGeom prst="rect">
            <a:avLst/>
          </a:prstGeom>
          <a:noFill/>
          <a:ln/>
        </p:spPr>
        <p:txBody>
          <a:bodyPr wrap="square" lIns="0" tIns="0" rIns="0" bIns="0" rtlCol="0" anchor="ctr"/>
          <a:lstStyle/>
          <a:p>
            <a:pPr indent="0" marL="0">
              <a:buNone/>
            </a:pPr>
            <a:r>
              <a:rPr lang="en-US" sz="3200" b="1" dirty="0">
                <a:solidFill>
                  <a:schemeClr val="tx1"/>
                </a:solidFill>
              </a:rPr>
              <a:t>10,116</a:t>
            </a:r>
            <a:endParaRPr lang="en-US" sz="3200" dirty="0"/>
          </a:p>
        </p:txBody>
      </p:sp>
      <p:sp>
        <p:nvSpPr>
          <p:cNvPr id="18" name="Text 15"/>
          <p:cNvSpPr txBox="1"/>
          <p:nvPr/>
        </p:nvSpPr>
        <p:spPr>
          <a:xfrm>
            <a:off x="9354312" y="2194560"/>
            <a:ext cx="2011680" cy="685800"/>
          </a:xfrm>
          <a:prstGeom prst="rect">
            <a:avLst/>
          </a:prstGeom>
          <a:noFill/>
          <a:ln/>
        </p:spPr>
        <p:txBody>
          <a:bodyPr wrap="square" lIns="0" tIns="0" rIns="0" bIns="0" rtlCol="0" anchor="t"/>
          <a:lstStyle/>
          <a:p>
            <a:pPr indent="0" marL="0">
              <a:buNone/>
            </a:pPr>
            <a:r>
              <a:rPr lang="en-US" sz="1400" dirty="0">
                <a:solidFill>
                  <a:schemeClr val="tx2"/>
                </a:solidFill>
              </a:rPr>
              <a:t>sentences with manifestation labels (Task 3)</a:t>
            </a:r>
            <a:endParaRPr lang="en-US" sz="1400" dirty="0"/>
          </a:p>
        </p:txBody>
      </p:sp>
      <p:sp>
        <p:nvSpPr>
          <p:cNvPr id="19" name="Text 16"/>
          <p:cNvSpPr txBox="1"/>
          <p:nvPr/>
        </p:nvSpPr>
        <p:spPr>
          <a:xfrm>
            <a:off x="640080" y="3429000"/>
            <a:ext cx="10908792" cy="274320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Duplicates: </a:t>
            </a:r>
            <a:pPr indent="0" marL="0">
              <a:spcAft>
                <a:spcPts val="1000"/>
              </a:spcAft>
              <a:buNone/>
            </a:pPr>
            <a:r>
              <a:rPr lang="en-US" sz="2000" dirty="0">
                <a:solidFill>
                  <a:schemeClr val="tx1"/>
                </a:solidFill>
              </a:rPr>
              <a:t>1,000 exact duplicate sentences removed; 32 of the duplicated sentences had conflicting polarization labels.</a:t>
            </a:r>
            <a:endParaRPr lang="en-US" sz="2000" dirty="0"/>
          </a:p>
          <a:p>
            <a:pPr indent="0" marL="0">
              <a:spcAft>
                <a:spcPts val="1000"/>
              </a:spcAft>
              <a:buNone/>
            </a:pPr>
            <a:r>
              <a:rPr lang="en-US" sz="2000" b="1" dirty="0">
                <a:solidFill>
                  <a:schemeClr val="tx1"/>
                </a:solidFill>
              </a:rPr>
              <a:t>Label cleaning: </a:t>
            </a:r>
            <a:pPr indent="0" marL="0">
              <a:spcAft>
                <a:spcPts val="1000"/>
              </a:spcAft>
              <a:buNone/>
            </a:pPr>
            <a:r>
              <a:rPr lang="en-US" sz="2000" dirty="0">
                <a:solidFill>
                  <a:schemeClr val="tx1"/>
                </a:solidFill>
              </a:rPr>
              <a:t>type and manifestation labels set to 0 on non-polarized sentences.</a:t>
            </a:r>
            <a:endParaRPr lang="en-US" sz="2000" dirty="0"/>
          </a:p>
          <a:p>
            <a:pPr indent="0" marL="0">
              <a:spcAft>
                <a:spcPts val="1000"/>
              </a:spcAft>
              <a:buNone/>
            </a:pPr>
            <a:r>
              <a:rPr lang="en-US" sz="2000" b="1" dirty="0">
                <a:solidFill>
                  <a:schemeClr val="tx1"/>
                </a:solidFill>
              </a:rPr>
              <a:t>Task 3 is smaller: </a:t>
            </a:r>
            <a:pPr indent="0" marL="0">
              <a:spcAft>
                <a:spcPts val="1000"/>
              </a:spcAft>
              <a:buNone/>
            </a:pPr>
            <a:r>
              <a:rPr lang="en-US" sz="2000" dirty="0">
                <a:solidFill>
                  <a:schemeClr val="tx1"/>
                </a:solidFill>
              </a:rPr>
              <a:t>two contributor files have no manifestation labels.</a:t>
            </a:r>
            <a:endParaRPr lang="en-US" sz="2000" dirty="0"/>
          </a:p>
          <a:p>
            <a:pPr indent="0" marL="0">
              <a:spcAft>
                <a:spcPts val="1000"/>
              </a:spcAft>
              <a:buNone/>
            </a:pPr>
            <a:r>
              <a:rPr lang="en-US" sz="2000" b="1" dirty="0">
                <a:solidFill>
                  <a:schemeClr val="tx1"/>
                </a:solidFill>
              </a:rPr>
              <a:t>Class balance: </a:t>
            </a:r>
            <a:pPr indent="0" marL="0">
              <a:spcAft>
                <a:spcPts val="1000"/>
              </a:spcAft>
              <a:buNone/>
            </a:pPr>
            <a:r>
              <a:rPr lang="en-US" sz="2000" dirty="0">
                <a:solidFill>
                  <a:schemeClr val="tx1"/>
                </a:solidFill>
              </a:rPr>
              <a:t>51% polarized, 49% not polarized.</a:t>
            </a:r>
            <a:endParaRPr lang="en-US" sz="20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Data format change in two stages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908792" cy="914400"/>
        </p:xfrm>
        <a:graphic>
          <a:graphicData uri="http://schemas.openxmlformats.org/drawingml/2006/table">
            <a:tbl>
              <a:tblPr/>
              <a:tblGrid>
                <a:gridCol w="1371600"/>
                <a:gridCol w="4754880"/>
                <a:gridCol w="4782312"/>
              </a:tblGrid>
              <a:tr h="603504">
                <a:tc>
                  <a:txBody>
                    <a:bodyPr/>
                    <a:lstStyle/>
                    <a:p>
                      <a:pPr algn="l" indent="0" marL="0">
                        <a:buNone/>
                      </a:pP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Stage 1: full record</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Stage 2: model-ready</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r>
              <a:tr h="603504">
                <a:tc>
                  <a:txBody>
                    <a:bodyPr/>
                    <a:lstStyle/>
                    <a:p>
                      <a:pPr algn="l" indent="0" marL="0">
                        <a:buNone/>
                      </a:pPr>
                      <a:r>
                        <a:rPr lang="en-US" sz="1600" dirty="0">
                          <a:solidFill>
                            <a:schemeClr val="tx1"/>
                          </a:solidFill>
                        </a:rPr>
                        <a:t>File</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raw-combined.csv</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task1_polarization.csv, task2_type.csv, task3_manifestation.csv</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603504">
                <a:tc>
                  <a:txBody>
                    <a:bodyPr/>
                    <a:lstStyle/>
                    <a:p>
                      <a:pPr algn="l" indent="0" marL="0">
                        <a:buNone/>
                      </a:pPr>
                      <a:r>
                        <a:rPr lang="en-US" sz="1600" dirty="0">
                          <a:solidFill>
                            <a:schemeClr val="tx1"/>
                          </a:solidFill>
                        </a:rPr>
                        <a:t>Columns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original_id, id, source, text, key_phrase, all labels, annotator_file</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id, text, labels of that task</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603504">
                <a:tc>
                  <a:txBody>
                    <a:bodyPr/>
                    <a:lstStyle/>
                    <a:p>
                      <a:pPr algn="l" indent="0" marL="0">
                        <a:buNone/>
                      </a:pPr>
                      <a:r>
                        <a:rPr lang="en-US" sz="1600" dirty="0">
                          <a:solidFill>
                            <a:schemeClr val="tx1"/>
                          </a:solidFill>
                        </a:rPr>
                        <a:t>Purpose</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Keeps where each sentence came from and who annotated it</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Only what a model needs; no annotator or source</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603504">
                <a:tc>
                  <a:txBody>
                    <a:bodyPr/>
                    <a:lstStyle/>
                    <a:p>
                      <a:pPr algn="l" indent="0" marL="0">
                        <a:buNone/>
                      </a:pPr>
                      <a:r>
                        <a:rPr lang="en-US" sz="1600" dirty="0">
                          <a:solidFill>
                            <a:schemeClr val="tx1"/>
                          </a:solidFill>
                        </a:rPr>
                        <a:t>Rows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12,010</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10,710 / 10,710 / 10,116</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40080" y="4754880"/>
            <a:ext cx="10908792" cy="365760"/>
          </a:xfrm>
          <a:prstGeom prst="rect">
            <a:avLst/>
          </a:prstGeom>
          <a:noFill/>
          <a:ln/>
        </p:spPr>
        <p:txBody>
          <a:bodyPr wrap="square" lIns="0" tIns="0" rIns="0" bIns="0" rtlCol="0" anchor="ctr"/>
          <a:lstStyle/>
          <a:p>
            <a:pPr indent="0" marL="0">
              <a:buNone/>
            </a:pPr>
            <a:r>
              <a:rPr lang="en-US" sz="1600" b="1" dirty="0">
                <a:solidFill>
                  <a:schemeClr val="tx2"/>
                </a:solidFill>
              </a:rPr>
              <a:t>Train / validation / test split</a:t>
            </a:r>
            <a:endParaRPr lang="en-US" sz="1600" dirty="0"/>
          </a:p>
        </p:txBody>
      </p:sp>
      <p:sp>
        <p:nvSpPr>
          <p:cNvPr id="6" name="Text 2"/>
          <p:cNvSpPr txBox="1"/>
          <p:nvPr/>
        </p:nvSpPr>
        <p:spPr>
          <a:xfrm>
            <a:off x="640080" y="5212080"/>
            <a:ext cx="10908792" cy="109728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chemeClr val="tx1"/>
                </a:solidFill>
              </a:rPr>
              <a:t>Stratified 80 / 10 / 10: 8,568 / 1,071 / 1,071 sentences (Task 3: 8,092 / 1,012 / 1,012).</a:t>
            </a:r>
            <a:endParaRPr lang="en-US" sz="2000" dirty="0"/>
          </a:p>
          <a:p>
            <a:pPr marL="228600" indent="-228600">
              <a:spcAft>
                <a:spcPts val="1000"/>
              </a:spcAft>
              <a:buSzPct val="100000"/>
              <a:buChar char="•"/>
            </a:pPr>
            <a:r>
              <a:rPr lang="en-US" sz="2000" dirty="0">
                <a:solidFill>
                  <a:schemeClr val="tx1"/>
                </a:solidFill>
              </a:rPr>
              <a:t>Every model uses the same split files.</a:t>
            </a:r>
            <a:endParaRPr lang="en-US" sz="20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Baseline: TF-IDF with a linear classifier</a:t>
            </a:r>
            <a:endParaRPr lang="en-US" sz="3000" dirty="0"/>
          </a:p>
        </p:txBody>
      </p:sp>
      <p:sp>
        <p:nvSpPr>
          <p:cNvPr id="4" name="Text 1"/>
          <p:cNvSpPr txBox="1"/>
          <p:nvPr/>
        </p:nvSpPr>
        <p:spPr>
          <a:xfrm>
            <a:off x="640080" y="1417320"/>
            <a:ext cx="4846320" cy="457200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Features: </a:t>
            </a:r>
            <a:pPr indent="0" marL="0">
              <a:spcAft>
                <a:spcPts val="1000"/>
              </a:spcAft>
              <a:buNone/>
            </a:pPr>
            <a:r>
              <a:rPr lang="en-US" sz="2000" dirty="0">
                <a:solidFill>
                  <a:schemeClr val="tx1"/>
                </a:solidFill>
              </a:rPr>
              <a:t>TF-IDF of word 1–2-grams, character 2–5-grams, or both.</a:t>
            </a:r>
            <a:endParaRPr lang="en-US" sz="2000" dirty="0"/>
          </a:p>
          <a:p>
            <a:pPr indent="0" marL="0">
              <a:spcAft>
                <a:spcPts val="1000"/>
              </a:spcAft>
              <a:buNone/>
            </a:pPr>
            <a:r>
              <a:rPr lang="en-US" sz="2000" b="1" dirty="0">
                <a:solidFill>
                  <a:schemeClr val="tx1"/>
                </a:solidFill>
              </a:rPr>
              <a:t>Classifiers: </a:t>
            </a:r>
            <a:pPr indent="0" marL="0">
              <a:spcAft>
                <a:spcPts val="1000"/>
              </a:spcAft>
              <a:buNone/>
            </a:pPr>
            <a:r>
              <a:rPr lang="en-US" sz="2000" dirty="0">
                <a:solidFill>
                  <a:schemeClr val="tx1"/>
                </a:solidFill>
              </a:rPr>
              <a:t>Logistic Regression and Linear SVM, balanced class weights.</a:t>
            </a:r>
            <a:endParaRPr lang="en-US" sz="2000" dirty="0"/>
          </a:p>
          <a:p>
            <a:pPr indent="0" marL="0">
              <a:spcAft>
                <a:spcPts val="1000"/>
              </a:spcAft>
              <a:buNone/>
            </a:pPr>
            <a:r>
              <a:rPr lang="en-US" sz="2000" b="1" dirty="0">
                <a:solidFill>
                  <a:schemeClr val="tx1"/>
                </a:solidFill>
              </a:rPr>
              <a:t>Multi-label tasks: </a:t>
            </a:r>
            <a:pPr indent="0" marL="0">
              <a:spcAft>
                <a:spcPts val="1000"/>
              </a:spcAft>
              <a:buNone/>
            </a:pPr>
            <a:r>
              <a:rPr lang="en-US" sz="2000" dirty="0">
                <a:solidFill>
                  <a:schemeClr val="tx1"/>
                </a:solidFill>
              </a:rPr>
              <a:t>one binary classifier per label.</a:t>
            </a:r>
            <a:endParaRPr lang="en-US" sz="2000" dirty="0"/>
          </a:p>
          <a:p>
            <a:pPr indent="0" marL="0">
              <a:spcAft>
                <a:spcPts val="1000"/>
              </a:spcAft>
              <a:buNone/>
            </a:pPr>
            <a:r>
              <a:rPr lang="en-US" sz="2000" b="1" dirty="0">
                <a:solidFill>
                  <a:schemeClr val="tx1"/>
                </a:solidFill>
              </a:rPr>
              <a:t>Selection: </a:t>
            </a:r>
            <a:pPr indent="0" marL="0">
              <a:spcAft>
                <a:spcPts val="1000"/>
              </a:spcAft>
              <a:buNone/>
            </a:pPr>
            <a:r>
              <a:rPr lang="en-US" sz="2000" dirty="0">
                <a:solidFill>
                  <a:schemeClr val="tx1"/>
                </a:solidFill>
              </a:rPr>
              <a:t>C chosen on the validation set; the test set is used once.</a:t>
            </a:r>
            <a:endParaRPr lang="en-US" sz="2000" dirty="0"/>
          </a:p>
        </p:txBody>
      </p:sp>
      <p:sp>
        <p:nvSpPr>
          <p:cNvPr id="5" name="Text 2"/>
          <p:cNvSpPr txBox="1"/>
          <p:nvPr/>
        </p:nvSpPr>
        <p:spPr>
          <a:xfrm>
            <a:off x="5943600" y="1417320"/>
            <a:ext cx="5577840" cy="365760"/>
          </a:xfrm>
          <a:prstGeom prst="rect">
            <a:avLst/>
          </a:prstGeom>
          <a:noFill/>
          <a:ln/>
        </p:spPr>
        <p:txBody>
          <a:bodyPr wrap="square" lIns="0" tIns="0" rIns="0" bIns="0" rtlCol="0" anchor="ctr"/>
          <a:lstStyle/>
          <a:p>
            <a:pPr indent="0" marL="0">
              <a:buNone/>
            </a:pPr>
            <a:r>
              <a:rPr lang="en-US" sz="1600" b="1" dirty="0">
                <a:solidFill>
                  <a:schemeClr val="tx2"/>
                </a:solidFill>
              </a:rPr>
              <a:t>Best configuration per task (macro F1)</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0" y="1920240"/>
          <a:ext cx="5605272" cy="914400"/>
        </p:xfrm>
        <a:graphic>
          <a:graphicData uri="http://schemas.openxmlformats.org/drawingml/2006/table">
            <a:tbl>
              <a:tblPr/>
              <a:tblGrid>
                <a:gridCol w="640080"/>
                <a:gridCol w="2194560"/>
                <a:gridCol w="822960"/>
                <a:gridCol w="822960"/>
                <a:gridCol w="1124712"/>
              </a:tblGrid>
              <a:tr h="548640">
                <a:tc>
                  <a:txBody>
                    <a:bodyPr/>
                    <a:lstStyle/>
                    <a:p>
                      <a:pPr algn="l" indent="0" marL="0">
                        <a:buNone/>
                      </a:pPr>
                      <a:r>
                        <a:rPr lang="en-US" sz="1600" b="1" dirty="0">
                          <a:solidFill>
                            <a:schemeClr val="tx1"/>
                          </a:solidFill>
                        </a:rPr>
                        <a:t>Task</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Model</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Val</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Test</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Majority</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r>
              <a:tr h="548640">
                <a:tc>
                  <a:txBody>
                    <a:bodyPr/>
                    <a:lstStyle/>
                    <a:p>
                      <a:pPr algn="l" indent="0" marL="0">
                        <a:buNone/>
                      </a:pPr>
                      <a:r>
                        <a:rPr lang="en-US" sz="1600" dirty="0">
                          <a:solidFill>
                            <a:schemeClr val="tx1"/>
                          </a:solidFill>
                        </a:rPr>
                        <a:t>1</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LogReg, word + char</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0.796</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0.790</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0.339</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LinearSVC, char</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0.564</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0.572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0.000</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3</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LinearSVC, char</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0.524</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0.509</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0.000</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943600" y="4251960"/>
            <a:ext cx="5577840" cy="365760"/>
          </a:xfrm>
          <a:prstGeom prst="rect">
            <a:avLst/>
          </a:prstGeom>
          <a:noFill/>
          <a:ln/>
        </p:spPr>
        <p:txBody>
          <a:bodyPr wrap="square" lIns="0" tIns="0" rIns="0" bIns="0" rtlCol="0" anchor="ctr"/>
          <a:lstStyle/>
          <a:p>
            <a:pPr indent="0" marL="0">
              <a:buNone/>
            </a:pPr>
            <a:r>
              <a:rPr lang="en-US" sz="1200" dirty="0">
                <a:solidFill>
                  <a:schemeClr val="tx2"/>
                </a:solidFill>
              </a:rPr>
              <a:t>Majority = always predict the most frequent class.</a:t>
            </a:r>
            <a:endParaRPr lang="en-US" sz="12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Experimental settings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908792" cy="914400"/>
        </p:xfrm>
        <a:graphic>
          <a:graphicData uri="http://schemas.openxmlformats.org/drawingml/2006/table">
            <a:tbl>
              <a:tblPr/>
              <a:tblGrid>
                <a:gridCol w="2011680"/>
                <a:gridCol w="2103120"/>
                <a:gridCol w="3017520"/>
                <a:gridCol w="2770632"/>
                <a:gridCol w="1005840"/>
              </a:tblGrid>
              <a:tr h="603504">
                <a:tc>
                  <a:txBody>
                    <a:bodyPr/>
                    <a:lstStyle/>
                    <a:p>
                      <a:pPr algn="l" indent="0" marL="0">
                        <a:buNone/>
                      </a:pPr>
                      <a:r>
                        <a:rPr lang="en-US" sz="1500" b="1" dirty="0">
                          <a:solidFill>
                            <a:schemeClr val="tx1"/>
                          </a:solidFill>
                        </a:rPr>
                        <a:t>Model</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tx1"/>
                          </a:solidFill>
                        </a:rPr>
                        <a:t>Input</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tx1"/>
                          </a:solidFill>
                        </a:rPr>
                        <a:t>Architecture</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tx1"/>
                          </a:solidFill>
                        </a:rPr>
                        <a:t>Training</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Runs</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r>
              <a:tr h="603504">
                <a:tc>
                  <a:txBody>
                    <a:bodyPr/>
                    <a:lstStyle/>
                    <a:p>
                      <a:pPr algn="l" indent="0" marL="0">
                        <a:buNone/>
                      </a:pPr>
                      <a:r>
                        <a:rPr lang="en-US" sz="1500" dirty="0">
                          <a:solidFill>
                            <a:schemeClr val="tx1"/>
                          </a:solidFill>
                        </a:rPr>
                        <a:t>TF-IDF + linear</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Word / char n-grams</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LogReg, LinearSVC</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C from validation</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1</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603504">
                <a:tc>
                  <a:txBody>
                    <a:bodyPr/>
                    <a:lstStyle/>
                    <a:p>
                      <a:pPr algn="l" indent="0" marL="0">
                        <a:buNone/>
                      </a:pPr>
                      <a:r>
                        <a:rPr lang="en-US" sz="1500" dirty="0">
                          <a:solidFill>
                            <a:schemeClr val="tx1"/>
                          </a:solidFill>
                        </a:rPr>
                        <a:t>Bi-LSTM</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Syllables</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2 layers, embedding 200, hidden 128</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lr 1e-3, batch 64, up to 25 epochs</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3 seeds</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603504">
                <a:tc>
                  <a:txBody>
                    <a:bodyPr/>
                    <a:lstStyle/>
                    <a:p>
                      <a:pPr algn="l" indent="0" marL="0">
                        <a:buNone/>
                      </a:pPr>
                      <a:r>
                        <a:rPr lang="en-US" sz="1500" dirty="0">
                          <a:solidFill>
                            <a:schemeClr val="tx1"/>
                          </a:solidFill>
                        </a:rPr>
                        <a:t>Transformer</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Syllables</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3 layers, d = 192, 4 heads, from scratch</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lr 5e-4, batch 64, up to 30 epochs</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3 seeds</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603504">
                <a:tc>
                  <a:txBody>
                    <a:bodyPr/>
                    <a:lstStyle/>
                    <a:p>
                      <a:pPr algn="l" indent="0" marL="0">
                        <a:buNone/>
                      </a:pPr>
                      <a:r>
                        <a:rPr lang="en-US" sz="1500" dirty="0">
                          <a:solidFill>
                            <a:schemeClr val="tx1"/>
                          </a:solidFill>
                        </a:rPr>
                        <a:t>XLM-RoBERTa base</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Subwords, spaces removed</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Pre-trained, token embeddings frozen</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rPr>
                        <a:t>lr 2e-5, batch 16, 4 epochs, 128 tokens</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1</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40080" y="4617720"/>
            <a:ext cx="10908792" cy="1737360"/>
          </a:xfrm>
          <a:prstGeom prst="rect">
            <a:avLst/>
          </a:prstGeom>
          <a:noFill/>
          <a:ln/>
        </p:spPr>
        <p:txBody>
          <a:bodyPr wrap="square" lIns="0" tIns="0" rIns="0" bIns="0" rtlCol="0" anchor="t"/>
          <a:lstStyle/>
          <a:p>
            <a:pPr indent="0" marL="0">
              <a:spcAft>
                <a:spcPts val="1000"/>
              </a:spcAft>
              <a:buNone/>
            </a:pPr>
            <a:r>
              <a:rPr lang="en-US" sz="1600" b="1" dirty="0">
                <a:solidFill>
                  <a:schemeClr val="tx1"/>
                </a:solidFill>
              </a:rPr>
              <a:t>Metric: </a:t>
            </a:r>
            <a:pPr indent="0" marL="0">
              <a:spcAft>
                <a:spcPts val="1000"/>
              </a:spcAft>
              <a:buNone/>
            </a:pPr>
            <a:r>
              <a:rPr lang="en-US" sz="1600" dirty="0">
                <a:solidFill>
                  <a:schemeClr val="tx1"/>
                </a:solidFill>
              </a:rPr>
              <a:t>macro F1 (Task 1 over the two classes, Tasks 2 and 3 over the labels).</a:t>
            </a:r>
            <a:endParaRPr lang="en-US" sz="1600" dirty="0"/>
          </a:p>
          <a:p>
            <a:pPr indent="0" marL="0">
              <a:spcAft>
                <a:spcPts val="1000"/>
              </a:spcAft>
              <a:buNone/>
            </a:pPr>
            <a:r>
              <a:rPr lang="en-US" sz="1600" b="1" dirty="0">
                <a:solidFill>
                  <a:schemeClr val="tx1"/>
                </a:solidFill>
              </a:rPr>
              <a:t>Model selection: </a:t>
            </a:r>
            <a:pPr indent="0" marL="0">
              <a:spcAft>
                <a:spcPts val="1000"/>
              </a:spcAft>
              <a:buNone/>
            </a:pPr>
            <a:r>
              <a:rPr lang="en-US" sz="1600" dirty="0">
                <a:solidFill>
                  <a:schemeClr val="tx1"/>
                </a:solidFill>
              </a:rPr>
              <a:t>epoch with the best validation macro F1, early stopping.</a:t>
            </a:r>
            <a:endParaRPr lang="en-US" sz="1600" dirty="0"/>
          </a:p>
          <a:p>
            <a:pPr indent="0" marL="0">
              <a:spcAft>
                <a:spcPts val="1000"/>
              </a:spcAft>
              <a:buNone/>
            </a:pPr>
            <a:r>
              <a:rPr lang="en-US" sz="1600" b="1" dirty="0">
                <a:solidFill>
                  <a:schemeClr val="tx1"/>
                </a:solidFill>
              </a:rPr>
              <a:t>Class imbalance: </a:t>
            </a:r>
            <a:pPr indent="0" marL="0">
              <a:spcAft>
                <a:spcPts val="1000"/>
              </a:spcAft>
              <a:buNone/>
            </a:pPr>
            <a:r>
              <a:rPr lang="en-US" sz="1600" dirty="0">
                <a:solidFill>
                  <a:schemeClr val="tx1"/>
                </a:solidFill>
              </a:rPr>
              <a:t>positive classes up-weighted in the loss.</a:t>
            </a:r>
            <a:endParaRPr lang="en-US" sz="1600" dirty="0"/>
          </a:p>
          <a:p>
            <a:pPr indent="0" marL="0">
              <a:spcAft>
                <a:spcPts val="1000"/>
              </a:spcAft>
              <a:buNone/>
            </a:pPr>
            <a:r>
              <a:rPr lang="en-US" sz="1600" b="1" dirty="0">
                <a:solidFill>
                  <a:schemeClr val="tx1"/>
                </a:solidFill>
              </a:rPr>
              <a:t>Hardware: </a:t>
            </a:r>
            <a:pPr indent="0" marL="0">
              <a:spcAft>
                <a:spcPts val="1000"/>
              </a:spcAft>
              <a:buNone/>
            </a:pPr>
            <a:r>
              <a:rPr lang="en-US" sz="1600" dirty="0">
                <a:solidFill>
                  <a:schemeClr val="tx1"/>
                </a:solidFill>
              </a:rPr>
              <a:t>Apple M4, 16 GB, PyTorch MPS.</a:t>
            </a:r>
            <a:endParaRPr lang="en-US" sz="16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Results: the baseline is not beaten on the random split</a:t>
            </a:r>
            <a:endParaRPr lang="en-US" sz="3000" dirty="0"/>
          </a:p>
        </p:txBody>
      </p:sp>
      <p:graphicFrame>
        <p:nvGraphicFramePr>
          <p:cNvPr id="4" name="Chart 0" descr=""/>
          <p:cNvGraphicFramePr/>
          <p:nvPr/>
        </p:nvGraphicFramePr>
        <p:xfrm>
          <a:off x="640080" y="141732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8138160" y="1508760"/>
            <a:ext cx="3410712" cy="4206240"/>
          </a:xfrm>
          <a:prstGeom prst="rect">
            <a:avLst/>
          </a:prstGeom>
          <a:noFill/>
          <a:ln/>
        </p:spPr>
        <p:txBody>
          <a:bodyPr wrap="square" lIns="0" tIns="0" rIns="0" bIns="0" rtlCol="0" anchor="t"/>
          <a:lstStyle/>
          <a:p>
            <a:pPr indent="0" marL="0">
              <a:spcAft>
                <a:spcPts val="1000"/>
              </a:spcAft>
              <a:buNone/>
            </a:pPr>
            <a:r>
              <a:rPr lang="en-US" sz="1800" b="1" dirty="0">
                <a:solidFill>
                  <a:schemeClr val="tx1"/>
                </a:solidFill>
              </a:rPr>
              <a:t>TF-IDF leads </a:t>
            </a:r>
            <a:pPr indent="0" marL="0">
              <a:spcAft>
                <a:spcPts val="1000"/>
              </a:spcAft>
              <a:buNone/>
            </a:pPr>
            <a:r>
              <a:rPr lang="en-US" sz="1800" dirty="0">
                <a:solidFill>
                  <a:schemeClr val="tx1"/>
                </a:solidFill>
              </a:rPr>
              <a:t>on all three tasks.</a:t>
            </a:r>
            <a:endParaRPr lang="en-US" sz="1800" dirty="0"/>
          </a:p>
          <a:p>
            <a:pPr indent="0" marL="0">
              <a:spcAft>
                <a:spcPts val="1000"/>
              </a:spcAft>
              <a:buNone/>
            </a:pPr>
            <a:r>
              <a:rPr lang="en-US" sz="1800" b="1" dirty="0">
                <a:solidFill>
                  <a:schemeClr val="tx1"/>
                </a:solidFill>
              </a:rPr>
              <a:t>XLM-R is closest: </a:t>
            </a:r>
            <a:pPr indent="0" marL="0">
              <a:spcAft>
                <a:spcPts val="1000"/>
              </a:spcAft>
              <a:buNone/>
            </a:pPr>
            <a:r>
              <a:rPr lang="en-US" sz="1800" dirty="0">
                <a:solidFill>
                  <a:schemeClr val="tx1"/>
                </a:solidFill>
              </a:rPr>
              <a:t>0.02 behind on Task 1, 0.01 on Task 2.</a:t>
            </a:r>
            <a:endParaRPr lang="en-US" sz="1800" dirty="0"/>
          </a:p>
          <a:p>
            <a:pPr indent="0" marL="0">
              <a:spcAft>
                <a:spcPts val="1000"/>
              </a:spcAft>
              <a:buNone/>
            </a:pPr>
            <a:r>
              <a:rPr lang="en-US" sz="1800" b="1" dirty="0">
                <a:solidFill>
                  <a:schemeClr val="tx1"/>
                </a:solidFill>
              </a:rPr>
              <a:t>Transformer from scratch is weakest </a:t>
            </a:r>
            <a:pPr indent="0" marL="0">
              <a:spcAft>
                <a:spcPts val="1000"/>
              </a:spcAft>
              <a:buNone/>
            </a:pPr>
            <a:r>
              <a:rPr lang="en-US" sz="1800" dirty="0">
                <a:solidFill>
                  <a:schemeClr val="tx1"/>
                </a:solidFill>
              </a:rPr>
              <a:t>on Tasks 2 and 3; 8,500 sentences are too few.</a:t>
            </a:r>
            <a:endParaRPr lang="en-US" sz="1800" dirty="0"/>
          </a:p>
          <a:p>
            <a:pPr indent="0" marL="0">
              <a:spcAft>
                <a:spcPts val="1000"/>
              </a:spcAft>
              <a:buNone/>
            </a:pPr>
            <a:r>
              <a:rPr lang="en-US" sz="1800" b="1" dirty="0">
                <a:solidFill>
                  <a:schemeClr val="tx1"/>
                </a:solidFill>
              </a:rPr>
              <a:t>Tasks get harder: </a:t>
            </a:r>
            <a:pPr indent="0" marL="0">
              <a:spcAft>
                <a:spcPts val="1000"/>
              </a:spcAft>
              <a:buNone/>
            </a:pPr>
            <a:r>
              <a:rPr lang="en-US" sz="1800" dirty="0">
                <a:solidFill>
                  <a:schemeClr val="tx1"/>
                </a:solidFill>
              </a:rPr>
              <a:t>0.79, then 0.57, then 0.51.</a:t>
            </a:r>
            <a:endParaRPr lang="en-US" sz="1800" dirty="0"/>
          </a:p>
        </p:txBody>
      </p:sp>
      <p:sp>
        <p:nvSpPr>
          <p:cNvPr id="6" name="Text 2"/>
          <p:cNvSpPr txBox="1"/>
          <p:nvPr/>
        </p:nvSpPr>
        <p:spPr>
          <a:xfrm>
            <a:off x="8138160" y="5669280"/>
            <a:ext cx="3410712" cy="502920"/>
          </a:xfrm>
          <a:prstGeom prst="rect">
            <a:avLst/>
          </a:prstGeom>
          <a:noFill/>
          <a:ln/>
        </p:spPr>
        <p:txBody>
          <a:bodyPr wrap="square" lIns="0" tIns="0" rIns="0" bIns="0" rtlCol="0" anchor="t"/>
          <a:lstStyle/>
          <a:p>
            <a:pPr indent="0" marL="0">
              <a:buNone/>
            </a:pPr>
            <a:r>
              <a:rPr lang="en-US" sz="1200" dirty="0">
                <a:solidFill>
                  <a:schemeClr val="tx2"/>
                </a:solidFill>
              </a:rPr>
              <a:t>Bi-LSTM and Transformer: mean of 3 seeds. Baseline and XLM-R: one run.</a:t>
            </a:r>
            <a:endParaRPr lang="en-US" sz="12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Unseen contributors: every model drops, the ranking reverses</a:t>
            </a:r>
            <a:endParaRPr lang="en-US" sz="3000" dirty="0"/>
          </a:p>
        </p:txBody>
      </p:sp>
      <p:graphicFrame>
        <p:nvGraphicFramePr>
          <p:cNvPr id="4" name="Chart 0" descr=""/>
          <p:cNvGraphicFramePr/>
          <p:nvPr/>
        </p:nvGraphicFramePr>
        <p:xfrm>
          <a:off x="640080" y="141732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8138160" y="1508760"/>
            <a:ext cx="3410712" cy="4206240"/>
          </a:xfrm>
          <a:prstGeom prst="rect">
            <a:avLst/>
          </a:prstGeom>
          <a:noFill/>
          <a:ln/>
        </p:spPr>
        <p:txBody>
          <a:bodyPr wrap="square" lIns="0" tIns="0" rIns="0" bIns="0" rtlCol="0" anchor="t"/>
          <a:lstStyle/>
          <a:p>
            <a:pPr indent="0" marL="0">
              <a:spcAft>
                <a:spcPts val="1000"/>
              </a:spcAft>
              <a:buNone/>
            </a:pPr>
            <a:r>
              <a:rPr lang="en-US" sz="1800" b="1" dirty="0">
                <a:solidFill>
                  <a:schemeClr val="tx1"/>
                </a:solidFill>
              </a:rPr>
              <a:t>Why: </a:t>
            </a:r>
            <a:pPr indent="0" marL="0">
              <a:spcAft>
                <a:spcPts val="1000"/>
              </a:spcAft>
              <a:buNone/>
            </a:pPr>
            <a:r>
              <a:rPr lang="en-US" sz="1800" dirty="0">
                <a:solidFill>
                  <a:schemeClr val="tx1"/>
                </a:solidFill>
              </a:rPr>
              <a:t>the polarization rate per contributor ranges from 0% to 99%.</a:t>
            </a:r>
            <a:endParaRPr lang="en-US" sz="1800" dirty="0"/>
          </a:p>
          <a:p>
            <a:pPr indent="0" marL="0">
              <a:spcAft>
                <a:spcPts val="1000"/>
              </a:spcAft>
              <a:buNone/>
            </a:pPr>
            <a:r>
              <a:rPr lang="en-US" sz="1800" b="1" dirty="0">
                <a:solidFill>
                  <a:schemeClr val="tx1"/>
                </a:solidFill>
              </a:rPr>
              <a:t>All models drop </a:t>
            </a:r>
            <a:pPr indent="0" marL="0">
              <a:spcAft>
                <a:spcPts val="1000"/>
              </a:spcAft>
              <a:buNone/>
            </a:pPr>
            <a:r>
              <a:rPr lang="en-US" sz="1800" dirty="0">
                <a:solidFill>
                  <a:schemeClr val="tx1"/>
                </a:solidFill>
              </a:rPr>
              <a:t>by 0.10 to 0.19.</a:t>
            </a:r>
            <a:endParaRPr lang="en-US" sz="1800" dirty="0"/>
          </a:p>
          <a:p>
            <a:pPr indent="0" marL="0">
              <a:spcAft>
                <a:spcPts val="1000"/>
              </a:spcAft>
              <a:buNone/>
            </a:pPr>
            <a:r>
              <a:rPr lang="en-US" sz="1800" b="1" dirty="0">
                <a:solidFill>
                  <a:schemeClr val="tx1"/>
                </a:solidFill>
              </a:rPr>
              <a:t>TF-IDF drops most </a:t>
            </a:r>
            <a:pPr indent="0" marL="0">
              <a:spcAft>
                <a:spcPts val="1000"/>
              </a:spcAft>
              <a:buNone/>
            </a:pPr>
            <a:r>
              <a:rPr lang="en-US" sz="1800" dirty="0">
                <a:solidFill>
                  <a:schemeClr val="tx1"/>
                </a:solidFill>
              </a:rPr>
              <a:t>(0.790 to 0.602).</a:t>
            </a:r>
            <a:endParaRPr lang="en-US" sz="1800" dirty="0"/>
          </a:p>
          <a:p>
            <a:pPr indent="0" marL="0">
              <a:spcAft>
                <a:spcPts val="1000"/>
              </a:spcAft>
              <a:buNone/>
            </a:pPr>
            <a:r>
              <a:rPr lang="en-US" sz="1800" b="1" dirty="0">
                <a:solidFill>
                  <a:schemeClr val="tx1"/>
                </a:solidFill>
              </a:rPr>
              <a:t>Bi-LSTM and XLM-R hold up best </a:t>
            </a:r>
            <a:pPr indent="0" marL="0">
              <a:spcAft>
                <a:spcPts val="1000"/>
              </a:spcAft>
              <a:buNone/>
            </a:pPr>
            <a:r>
              <a:rPr lang="en-US" sz="1800" dirty="0">
                <a:solidFill>
                  <a:schemeClr val="tx1"/>
                </a:solidFill>
              </a:rPr>
              <a:t>(about 0.66).</a:t>
            </a:r>
            <a:endParaRPr lang="en-US" sz="1800" dirty="0"/>
          </a:p>
        </p:txBody>
      </p:sp>
      <p:sp>
        <p:nvSpPr>
          <p:cNvPr id="6" name="Text 2"/>
          <p:cNvSpPr txBox="1"/>
          <p:nvPr/>
        </p:nvSpPr>
        <p:spPr>
          <a:xfrm>
            <a:off x="8138160" y="5669280"/>
            <a:ext cx="3410712" cy="502920"/>
          </a:xfrm>
          <a:prstGeom prst="rect">
            <a:avLst/>
          </a:prstGeom>
          <a:noFill/>
          <a:ln/>
        </p:spPr>
        <p:txBody>
          <a:bodyPr wrap="square" lIns="0" tIns="0" rIns="0" bIns="0" rtlCol="0" anchor="t"/>
          <a:lstStyle/>
          <a:p>
            <a:pPr indent="0" marL="0">
              <a:buNone/>
            </a:pPr>
            <a:r>
              <a:rPr lang="en-US" sz="1200" dirty="0">
                <a:solidFill>
                  <a:schemeClr val="tx2"/>
                </a:solidFill>
              </a:rPr>
              <a:t>One split, one seed: an indication, not a precise estimate.</a:t>
            </a:r>
            <a:endParaRPr lang="en-US" sz="12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Error analysis: word, syllable or character?</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908792" cy="914400"/>
        </p:xfrm>
        <a:graphic>
          <a:graphicData uri="http://schemas.openxmlformats.org/drawingml/2006/table">
            <a:tbl>
              <a:tblPr/>
              <a:tblGrid>
                <a:gridCol w="2679192"/>
                <a:gridCol w="1371600"/>
                <a:gridCol w="1371600"/>
                <a:gridCol w="1371600"/>
                <a:gridCol w="1371600"/>
                <a:gridCol w="1371600"/>
                <a:gridCol w="1371600"/>
              </a:tblGrid>
              <a:tr h="548640">
                <a:tc>
                  <a:txBody>
                    <a:bodyPr/>
                    <a:lstStyle/>
                    <a:p>
                      <a:pPr algn="l" indent="0" marL="0">
                        <a:buNone/>
                      </a:pPr>
                      <a:r>
                        <a:rPr lang="en-US" sz="1700" b="1" dirty="0">
                          <a:solidFill>
                            <a:schemeClr val="tx1"/>
                          </a:solidFill>
                        </a:rPr>
                        <a:t>Input unit</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tx1"/>
                          </a:solidFill>
                        </a:rPr>
                        <a:t>TF-IDF T1</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tx1"/>
                          </a:solidFill>
                        </a:rPr>
                        <a:t>TF-IDF T2</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tx1"/>
                          </a:solidFill>
                        </a:rPr>
                        <a:t>TF-IDF T3</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tx1"/>
                          </a:solidFill>
                        </a:rPr>
                        <a:t>Bi-LSTM T1</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tx1"/>
                          </a:solidFill>
                        </a:rPr>
                        <a:t>Bi-LSTM T2</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tx1"/>
                          </a:solidFill>
                        </a:rPr>
                        <a:t>Bi-LSTM T3</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r>
              <a:tr h="548640">
                <a:tc>
                  <a:txBody>
                    <a:bodyPr/>
                    <a:lstStyle/>
                    <a:p>
                      <a:pPr algn="l" indent="0" marL="0">
                        <a:buNone/>
                      </a:pPr>
                      <a:r>
                        <a:rPr lang="en-US" sz="1700" dirty="0">
                          <a:solidFill>
                            <a:schemeClr val="tx1"/>
                          </a:solidFill>
                        </a:rPr>
                        <a:t>Word (whitespace)</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0.751</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0.410</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0.438</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0.728</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0.389</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0.425</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chemeClr val="tx1"/>
                          </a:solidFill>
                        </a:rPr>
                        <a:t>Syllable</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tx1"/>
                          </a:solidFill>
                        </a:rPr>
                        <a:t>0.785</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0.549</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0.475</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tx1"/>
                          </a:solidFill>
                        </a:rPr>
                        <a:t>0.758</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tx1"/>
                          </a:solidFill>
                        </a:rPr>
                        <a:t>0.534</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tx1"/>
                          </a:solidFill>
                        </a:rPr>
                        <a:t>0.477</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chemeClr val="tx1"/>
                          </a:solidFill>
                        </a:rPr>
                        <a:t>Character</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0.782</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tx1"/>
                          </a:solidFill>
                        </a:rPr>
                        <a:t>0.572</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tx1"/>
                          </a:solidFill>
                        </a:rPr>
                        <a:t>0.509</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0.729</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0.470</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0.436</a:t>
                      </a:r>
                      <a:endParaRPr lang="en-US" sz="17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40080" y="3703320"/>
            <a:ext cx="10908792" cy="320040"/>
          </a:xfrm>
          <a:prstGeom prst="rect">
            <a:avLst/>
          </a:prstGeom>
          <a:noFill/>
          <a:ln/>
        </p:spPr>
        <p:txBody>
          <a:bodyPr wrap="square" lIns="0" tIns="0" rIns="0" bIns="0" rtlCol="0" anchor="ctr"/>
          <a:lstStyle/>
          <a:p>
            <a:pPr indent="0" marL="0">
              <a:buNone/>
            </a:pPr>
            <a:r>
              <a:rPr lang="en-US" sz="1200" dirty="0">
                <a:solidFill>
                  <a:schemeClr val="tx2"/>
                </a:solidFill>
              </a:rPr>
              <a:t>Test macro F1, one run each (seed 42). Best per column in bold.</a:t>
            </a:r>
            <a:endParaRPr lang="en-US" sz="1200" dirty="0"/>
          </a:p>
        </p:txBody>
      </p:sp>
      <p:sp>
        <p:nvSpPr>
          <p:cNvPr id="6" name="Text 2"/>
          <p:cNvSpPr txBox="1"/>
          <p:nvPr/>
        </p:nvSpPr>
        <p:spPr>
          <a:xfrm>
            <a:off x="640080" y="4251960"/>
            <a:ext cx="10908792" cy="210312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Words are the worst unit </a:t>
            </a:r>
            <a:pPr indent="0" marL="0">
              <a:spcAft>
                <a:spcPts val="1000"/>
              </a:spcAft>
              <a:buNone/>
            </a:pPr>
            <a:r>
              <a:rPr lang="en-US" sz="2000" dirty="0">
                <a:solidFill>
                  <a:schemeClr val="tx1"/>
                </a:solidFill>
              </a:rPr>
              <a:t>for both models, by up to 0.16 on Task 2.</a:t>
            </a:r>
            <a:endParaRPr lang="en-US" sz="2000" dirty="0"/>
          </a:p>
          <a:p>
            <a:pPr indent="0" marL="0">
              <a:spcAft>
                <a:spcPts val="1000"/>
              </a:spcAft>
              <a:buNone/>
            </a:pPr>
            <a:r>
              <a:rPr lang="en-US" sz="2000" b="1" dirty="0">
                <a:solidFill>
                  <a:schemeClr val="tx1"/>
                </a:solidFill>
              </a:rPr>
              <a:t>Reason: </a:t>
            </a:r>
            <a:pPr indent="0" marL="0">
              <a:spcAft>
                <a:spcPts val="1000"/>
              </a:spcAft>
              <a:buNone/>
            </a:pPr>
            <a:r>
              <a:rPr lang="en-US" sz="2000" dirty="0">
                <a:solidFill>
                  <a:schemeClr val="tx1"/>
                </a:solidFill>
              </a:rPr>
              <a:t>contributors segmented differently. 34% of test word tokens are unknown to the training vocabulary, against 0.8% of syllables.</a:t>
            </a:r>
            <a:endParaRPr lang="en-US" sz="2000" dirty="0"/>
          </a:p>
          <a:p>
            <a:pPr indent="0" marL="0">
              <a:spcAft>
                <a:spcPts val="1000"/>
              </a:spcAft>
              <a:buNone/>
            </a:pPr>
            <a:r>
              <a:rPr lang="en-US" sz="2000" b="1" dirty="0">
                <a:solidFill>
                  <a:schemeClr val="tx1"/>
                </a:solidFill>
              </a:rPr>
              <a:t>TF-IDF is best with characters, </a:t>
            </a:r>
            <a:pPr indent="0" marL="0">
              <a:spcAft>
                <a:spcPts val="1000"/>
              </a:spcAft>
              <a:buNone/>
            </a:pPr>
            <a:r>
              <a:rPr lang="en-US" sz="2000" dirty="0">
                <a:solidFill>
                  <a:schemeClr val="tx1"/>
                </a:solidFill>
              </a:rPr>
              <a:t>the Bi-LSTM with syllables (character sequences are about 3 times longer).</a:t>
            </a:r>
            <a:endParaRPr lang="en-US" sz="20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Error analysis, Task 1: where the errors are</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6309360" cy="914400"/>
        </p:xfrm>
        <a:graphic>
          <a:graphicData uri="http://schemas.openxmlformats.org/drawingml/2006/table">
            <a:tbl>
              <a:tblPr/>
              <a:tblGrid>
                <a:gridCol w="2377440"/>
                <a:gridCol w="822960"/>
                <a:gridCol w="1554480"/>
                <a:gridCol w="1554480"/>
              </a:tblGrid>
              <a:tr h="548640">
                <a:tc>
                  <a:txBody>
                    <a:bodyPr/>
                    <a:lstStyle/>
                    <a:p>
                      <a:pPr algn="l" indent="0" marL="0">
                        <a:buNone/>
                      </a:pPr>
                      <a:r>
                        <a:rPr lang="en-US" sz="1600" b="1" dirty="0">
                          <a:solidFill>
                            <a:schemeClr val="tx1"/>
                          </a:solidFill>
                        </a:rPr>
                        <a:t>Group</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n</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TF-IDF acc.</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Bi-LSTM acc.</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r>
              <a:tr h="548640">
                <a:tc>
                  <a:txBody>
                    <a:bodyPr/>
                    <a:lstStyle/>
                    <a:p>
                      <a:pPr algn="l" indent="0" marL="0">
                        <a:buNone/>
                      </a:pPr>
                      <a:r>
                        <a:rPr lang="en-US" sz="1600" dirty="0">
                          <a:solidFill>
                            <a:schemeClr val="tx1"/>
                          </a:solidFill>
                        </a:rPr>
                        <a:t>1–15 syllables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148</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0.736</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0.682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16–30 syllables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345</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0.757</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0.762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31–60 syllables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390</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0.821</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0.782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61+ syllables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188</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0.830</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0.761</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Word-segmented</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504</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0.829</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0.752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Phrase-segmented</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434</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0.772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0.779</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Unsegmented</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133</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0.699</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0.714</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7315200" y="1417320"/>
            <a:ext cx="4233672" cy="4754880"/>
          </a:xfrm>
          <a:prstGeom prst="rect">
            <a:avLst/>
          </a:prstGeom>
          <a:noFill/>
          <a:ln/>
        </p:spPr>
        <p:txBody>
          <a:bodyPr wrap="square" lIns="0" tIns="0" rIns="0" bIns="0" rtlCol="0" anchor="t"/>
          <a:lstStyle/>
          <a:p>
            <a:pPr indent="0" marL="0">
              <a:spcAft>
                <a:spcPts val="1000"/>
              </a:spcAft>
              <a:buNone/>
            </a:pPr>
            <a:r>
              <a:rPr lang="en-US" sz="1900" b="1" dirty="0">
                <a:solidFill>
                  <a:schemeClr val="tx1"/>
                </a:solidFill>
              </a:rPr>
              <a:t>Errors: </a:t>
            </a:r>
            <a:pPr indent="0" marL="0">
              <a:spcAft>
                <a:spcPts val="1000"/>
              </a:spcAft>
              <a:buNone/>
            </a:pPr>
            <a:r>
              <a:rPr lang="en-US" sz="1900" dirty="0">
                <a:solidFill>
                  <a:schemeClr val="tx1"/>
                </a:solidFill>
              </a:rPr>
              <a:t>TF-IDF 225 of 1,071 (108 false positives, 117 false negatives); Bi-LSTM 259.</a:t>
            </a:r>
            <a:endParaRPr lang="en-US" sz="1900" dirty="0"/>
          </a:p>
          <a:p>
            <a:pPr indent="0" marL="0">
              <a:spcAft>
                <a:spcPts val="1000"/>
              </a:spcAft>
              <a:buNone/>
            </a:pPr>
            <a:r>
              <a:rPr lang="en-US" sz="1900" b="1" dirty="0">
                <a:solidFill>
                  <a:schemeClr val="tx1"/>
                </a:solidFill>
              </a:rPr>
              <a:t>Short sentences are hardest. </a:t>
            </a:r>
            <a:pPr indent="0" marL="0">
              <a:spcAft>
                <a:spcPts val="1000"/>
              </a:spcAft>
              <a:buNone/>
            </a:pPr>
            <a:r>
              <a:rPr lang="en-US" sz="1900" dirty="0">
                <a:solidFill>
                  <a:schemeClr val="tx1"/>
                </a:solidFill>
              </a:rPr>
              <a:t>Up to 30 syllables, one in three non-polarized sentences is flagged.</a:t>
            </a:r>
            <a:endParaRPr lang="en-US" sz="1900" dirty="0"/>
          </a:p>
          <a:p>
            <a:pPr indent="0" marL="0">
              <a:spcAft>
                <a:spcPts val="1000"/>
              </a:spcAft>
              <a:buNone/>
            </a:pPr>
            <a:r>
              <a:rPr lang="en-US" sz="1900" b="1" dirty="0">
                <a:solidFill>
                  <a:schemeClr val="tx1"/>
                </a:solidFill>
              </a:rPr>
              <a:t>TF-IDF depends on segmentation: </a:t>
            </a:r>
            <a:pPr indent="0" marL="0">
              <a:spcAft>
                <a:spcPts val="1000"/>
              </a:spcAft>
              <a:buNone/>
            </a:pPr>
            <a:r>
              <a:rPr lang="en-US" sz="1900" dirty="0">
                <a:solidFill>
                  <a:schemeClr val="tx1"/>
                </a:solidFill>
              </a:rPr>
              <a:t>it misses 55% of polarized sentences in unsegmented text.</a:t>
            </a:r>
            <a:endParaRPr lang="en-US" sz="1900" dirty="0"/>
          </a:p>
          <a:p>
            <a:pPr indent="0" marL="0">
              <a:spcAft>
                <a:spcPts val="1000"/>
              </a:spcAft>
              <a:buNone/>
            </a:pPr>
            <a:r>
              <a:rPr lang="en-US" sz="1900" b="1" dirty="0">
                <a:solidFill>
                  <a:schemeClr val="tx1"/>
                </a:solidFill>
              </a:rPr>
              <a:t>The Bi-LSTM does not: </a:t>
            </a:r>
            <a:pPr indent="0" marL="0">
              <a:spcAft>
                <a:spcPts val="1000"/>
              </a:spcAft>
              <a:buNone/>
            </a:pPr>
            <a:r>
              <a:rPr lang="en-US" sz="1900" dirty="0">
                <a:solidFill>
                  <a:schemeClr val="tx1"/>
                </a:solidFill>
              </a:rPr>
              <a:t>accuracy stays between 0.71 and 0.78.</a:t>
            </a:r>
            <a:endParaRPr lang="en-US" sz="19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Error analysis, Task 1: what the models learned</a:t>
            </a:r>
            <a:endParaRPr lang="en-US" sz="3000" dirty="0"/>
          </a:p>
        </p:txBody>
      </p:sp>
      <p:sp>
        <p:nvSpPr>
          <p:cNvPr id="4" name="Shape 1"/>
          <p:cNvSpPr/>
          <p:nvPr/>
        </p:nvSpPr>
        <p:spPr>
          <a:xfrm>
            <a:off x="640080" y="1417320"/>
            <a:ext cx="3383280" cy="1463040"/>
          </a:xfrm>
          <a:prstGeom prst="rect">
            <a:avLst/>
          </a:prstGeom>
          <a:solidFill>
            <a:schemeClr val="bg2"/>
          </a:solidFill>
          <a:ln w="12700">
            <a:solidFill>
              <a:schemeClr val="bg2"/>
            </a:solidFill>
            <a:prstDash val="solid"/>
          </a:ln>
        </p:spPr>
      </p:sp>
      <p:sp>
        <p:nvSpPr>
          <p:cNvPr id="5" name="Text 2"/>
          <p:cNvSpPr txBox="1"/>
          <p:nvPr/>
        </p:nvSpPr>
        <p:spPr>
          <a:xfrm>
            <a:off x="822960" y="1527048"/>
            <a:ext cx="3017520" cy="640080"/>
          </a:xfrm>
          <a:prstGeom prst="rect">
            <a:avLst/>
          </a:prstGeom>
          <a:noFill/>
          <a:ln/>
        </p:spPr>
        <p:txBody>
          <a:bodyPr wrap="square" lIns="0" tIns="0" rIns="0" bIns="0" rtlCol="0" anchor="ctr"/>
          <a:lstStyle/>
          <a:p>
            <a:pPr indent="0" marL="0">
              <a:buNone/>
            </a:pPr>
            <a:r>
              <a:rPr lang="en-US" sz="3200" b="1" dirty="0">
                <a:solidFill>
                  <a:schemeClr val="tx1"/>
                </a:solidFill>
              </a:rPr>
              <a:t>136</a:t>
            </a:r>
            <a:endParaRPr lang="en-US" sz="3200" dirty="0"/>
          </a:p>
        </p:txBody>
      </p:sp>
      <p:sp>
        <p:nvSpPr>
          <p:cNvPr id="6" name="Text 3"/>
          <p:cNvSpPr txBox="1"/>
          <p:nvPr/>
        </p:nvSpPr>
        <p:spPr>
          <a:xfrm>
            <a:off x="822960" y="2194560"/>
            <a:ext cx="3017520" cy="548640"/>
          </a:xfrm>
          <a:prstGeom prst="rect">
            <a:avLst/>
          </a:prstGeom>
          <a:noFill/>
          <a:ln/>
        </p:spPr>
        <p:txBody>
          <a:bodyPr wrap="square" lIns="0" tIns="0" rIns="0" bIns="0" rtlCol="0" anchor="t"/>
          <a:lstStyle/>
          <a:p>
            <a:pPr indent="0" marL="0">
              <a:buNone/>
            </a:pPr>
            <a:r>
              <a:rPr lang="en-US" sz="1400" dirty="0">
                <a:solidFill>
                  <a:schemeClr val="tx2"/>
                </a:solidFill>
              </a:rPr>
              <a:t>sentences both models get wrong</a:t>
            </a:r>
            <a:endParaRPr lang="en-US" sz="1400" dirty="0"/>
          </a:p>
        </p:txBody>
      </p:sp>
      <p:sp>
        <p:nvSpPr>
          <p:cNvPr id="7" name="Shape 4"/>
          <p:cNvSpPr/>
          <p:nvPr/>
        </p:nvSpPr>
        <p:spPr>
          <a:xfrm>
            <a:off x="4402836" y="1417320"/>
            <a:ext cx="3383280" cy="1463040"/>
          </a:xfrm>
          <a:prstGeom prst="rect">
            <a:avLst/>
          </a:prstGeom>
          <a:solidFill>
            <a:schemeClr val="bg2"/>
          </a:solidFill>
          <a:ln w="12700">
            <a:solidFill>
              <a:schemeClr val="bg2"/>
            </a:solidFill>
            <a:prstDash val="solid"/>
          </a:ln>
        </p:spPr>
      </p:sp>
      <p:sp>
        <p:nvSpPr>
          <p:cNvPr id="8" name="Text 5"/>
          <p:cNvSpPr txBox="1"/>
          <p:nvPr/>
        </p:nvSpPr>
        <p:spPr>
          <a:xfrm>
            <a:off x="4585716" y="1527048"/>
            <a:ext cx="3017520" cy="640080"/>
          </a:xfrm>
          <a:prstGeom prst="rect">
            <a:avLst/>
          </a:prstGeom>
          <a:noFill/>
          <a:ln/>
        </p:spPr>
        <p:txBody>
          <a:bodyPr wrap="square" lIns="0" tIns="0" rIns="0" bIns="0" rtlCol="0" anchor="ctr"/>
          <a:lstStyle/>
          <a:p>
            <a:pPr indent="0" marL="0">
              <a:buNone/>
            </a:pPr>
            <a:r>
              <a:rPr lang="en-US" sz="3200" b="1" dirty="0">
                <a:solidFill>
                  <a:schemeClr val="tx1"/>
                </a:solidFill>
              </a:rPr>
              <a:t>212</a:t>
            </a:r>
            <a:endParaRPr lang="en-US" sz="3200" dirty="0"/>
          </a:p>
        </p:txBody>
      </p:sp>
      <p:sp>
        <p:nvSpPr>
          <p:cNvPr id="9" name="Text 6"/>
          <p:cNvSpPr txBox="1"/>
          <p:nvPr/>
        </p:nvSpPr>
        <p:spPr>
          <a:xfrm>
            <a:off x="4585716" y="2194560"/>
            <a:ext cx="3017520" cy="548640"/>
          </a:xfrm>
          <a:prstGeom prst="rect">
            <a:avLst/>
          </a:prstGeom>
          <a:noFill/>
          <a:ln/>
        </p:spPr>
        <p:txBody>
          <a:bodyPr wrap="square" lIns="0" tIns="0" rIns="0" bIns="0" rtlCol="0" anchor="t"/>
          <a:lstStyle/>
          <a:p>
            <a:pPr indent="0" marL="0">
              <a:buNone/>
            </a:pPr>
            <a:r>
              <a:rPr lang="en-US" sz="1400" dirty="0">
                <a:solidFill>
                  <a:schemeClr val="tx2"/>
                </a:solidFill>
              </a:rPr>
              <a:t>sentences only one model gets right</a:t>
            </a:r>
            <a:endParaRPr lang="en-US" sz="1400" dirty="0"/>
          </a:p>
        </p:txBody>
      </p:sp>
      <p:sp>
        <p:nvSpPr>
          <p:cNvPr id="10" name="Shape 7"/>
          <p:cNvSpPr/>
          <p:nvPr/>
        </p:nvSpPr>
        <p:spPr>
          <a:xfrm>
            <a:off x="8165592" y="1417320"/>
            <a:ext cx="3383280" cy="1463040"/>
          </a:xfrm>
          <a:prstGeom prst="rect">
            <a:avLst/>
          </a:prstGeom>
          <a:solidFill>
            <a:schemeClr val="bg2"/>
          </a:solidFill>
          <a:ln w="12700">
            <a:solidFill>
              <a:schemeClr val="bg2"/>
            </a:solidFill>
            <a:prstDash val="solid"/>
          </a:ln>
        </p:spPr>
      </p:sp>
      <p:sp>
        <p:nvSpPr>
          <p:cNvPr id="11" name="Text 8"/>
          <p:cNvSpPr txBox="1"/>
          <p:nvPr/>
        </p:nvSpPr>
        <p:spPr>
          <a:xfrm>
            <a:off x="8348472" y="1527048"/>
            <a:ext cx="3017520" cy="640080"/>
          </a:xfrm>
          <a:prstGeom prst="rect">
            <a:avLst/>
          </a:prstGeom>
          <a:noFill/>
          <a:ln/>
        </p:spPr>
        <p:txBody>
          <a:bodyPr wrap="square" lIns="0" tIns="0" rIns="0" bIns="0" rtlCol="0" anchor="ctr"/>
          <a:lstStyle/>
          <a:p>
            <a:pPr indent="0" marL="0">
              <a:buNone/>
            </a:pPr>
            <a:r>
              <a:rPr lang="en-US" sz="3200" b="1" dirty="0">
                <a:solidFill>
                  <a:schemeClr val="tx1"/>
                </a:solidFill>
              </a:rPr>
              <a:t>0.873</a:t>
            </a:r>
            <a:endParaRPr lang="en-US" sz="3200" dirty="0"/>
          </a:p>
        </p:txBody>
      </p:sp>
      <p:sp>
        <p:nvSpPr>
          <p:cNvPr id="12" name="Text 9"/>
          <p:cNvSpPr txBox="1"/>
          <p:nvPr/>
        </p:nvSpPr>
        <p:spPr>
          <a:xfrm>
            <a:off x="8348472" y="2194560"/>
            <a:ext cx="3017520" cy="548640"/>
          </a:xfrm>
          <a:prstGeom prst="rect">
            <a:avLst/>
          </a:prstGeom>
          <a:noFill/>
          <a:ln/>
        </p:spPr>
        <p:txBody>
          <a:bodyPr wrap="square" lIns="0" tIns="0" rIns="0" bIns="0" rtlCol="0" anchor="t"/>
          <a:lstStyle/>
          <a:p>
            <a:pPr indent="0" marL="0">
              <a:buNone/>
            </a:pPr>
            <a:r>
              <a:rPr lang="en-US" sz="1400" dirty="0">
                <a:solidFill>
                  <a:schemeClr val="tx2"/>
                </a:solidFill>
              </a:rPr>
              <a:t>accuracy if the right model could always be picked</a:t>
            </a:r>
            <a:endParaRPr lang="en-US" sz="1400" dirty="0"/>
          </a:p>
        </p:txBody>
      </p:sp>
      <p:sp>
        <p:nvSpPr>
          <p:cNvPr id="13" name="Text 10"/>
          <p:cNvSpPr txBox="1"/>
          <p:nvPr/>
        </p:nvSpPr>
        <p:spPr>
          <a:xfrm>
            <a:off x="640080" y="3200400"/>
            <a:ext cx="10908792" cy="3108960"/>
          </a:xfrm>
          <a:prstGeom prst="rect">
            <a:avLst/>
          </a:prstGeom>
          <a:noFill/>
          <a:ln/>
        </p:spPr>
        <p:txBody>
          <a:bodyPr wrap="square" lIns="0" tIns="0" rIns="0" bIns="0" rtlCol="0" anchor="t"/>
          <a:lstStyle/>
          <a:p>
            <a:pPr indent="0" marL="0">
              <a:spcAft>
                <a:spcPts val="1000"/>
              </a:spcAft>
              <a:buNone/>
            </a:pPr>
            <a:r>
              <a:rPr lang="en-US" sz="1800" b="1" dirty="0">
                <a:solidFill>
                  <a:schemeClr val="tx1"/>
                </a:solidFill>
              </a:rPr>
              <a:t>Different errors: </a:t>
            </a:r>
            <a:pPr indent="0" marL="0">
              <a:spcAft>
                <a:spcPts val="1000"/>
              </a:spcAft>
              <a:buNone/>
            </a:pPr>
            <a:r>
              <a:rPr lang="en-US" sz="1800" dirty="0">
                <a:solidFill>
                  <a:schemeClr val="tx1"/>
                </a:solidFill>
              </a:rPr>
              <a:t>TF-IDF and the Bi-LSTM fail on different sentences, so an ensemble has room to improve.</a:t>
            </a:r>
            <a:endParaRPr lang="en-US" sz="1800" dirty="0"/>
          </a:p>
          <a:p>
            <a:pPr indent="0" marL="0">
              <a:spcAft>
                <a:spcPts val="1000"/>
              </a:spcAft>
              <a:buNone/>
            </a:pPr>
            <a:r>
              <a:rPr lang="en-US" sz="1800" b="1" dirty="0">
                <a:solidFill>
                  <a:schemeClr val="tx1"/>
                </a:solidFill>
              </a:rPr>
              <a:t>Style, not only content: </a:t>
            </a:r>
            <a:pPr indent="0" marL="0">
              <a:spcAft>
                <a:spcPts val="1000"/>
              </a:spcAft>
              <a:buNone/>
            </a:pPr>
            <a:r>
              <a:rPr lang="en-US" sz="1800" dirty="0">
                <a:solidFill>
                  <a:schemeClr val="tx1"/>
                </a:solidFill>
              </a:rPr>
              <a:t>the strongest polarized n-grams are insults and violent words; the strongest non-polarized ones are formal sentence endings and punctuation.</a:t>
            </a:r>
            <a:endParaRPr lang="en-US" sz="1800" dirty="0"/>
          </a:p>
          <a:p>
            <a:pPr indent="0" marL="0">
              <a:spcAft>
                <a:spcPts val="1000"/>
              </a:spcAft>
              <a:buNone/>
            </a:pPr>
            <a:r>
              <a:rPr lang="en-US" sz="1800" b="1" dirty="0">
                <a:solidFill>
                  <a:schemeClr val="tx1"/>
                </a:solidFill>
              </a:rPr>
              <a:t>Contributor gap: </a:t>
            </a:r>
            <a:pPr indent="0" marL="0">
              <a:spcAft>
                <a:spcPts val="1000"/>
              </a:spcAft>
              <a:buNone/>
            </a:pPr>
            <a:r>
              <a:rPr lang="en-US" sz="1800" dirty="0">
                <a:solidFill>
                  <a:schemeClr val="tx1"/>
                </a:solidFill>
              </a:rPr>
              <a:t>accuracy per contributor ranges from 0.50 to 0.98.</a:t>
            </a:r>
            <a:endParaRPr lang="en-US" sz="1800" dirty="0"/>
          </a:p>
          <a:p>
            <a:pPr indent="0" marL="0">
              <a:spcAft>
                <a:spcPts val="1000"/>
              </a:spcAft>
              <a:buNone/>
            </a:pPr>
            <a:r>
              <a:rPr lang="en-US" sz="1800" b="1" dirty="0">
                <a:solidFill>
                  <a:schemeClr val="tx1"/>
                </a:solidFill>
              </a:rPr>
              <a:t>Unlabelled cases: </a:t>
            </a:r>
            <a:pPr indent="0" marL="0">
              <a:spcAft>
                <a:spcPts val="1000"/>
              </a:spcAft>
              <a:buNone/>
            </a:pPr>
            <a:r>
              <a:rPr lang="en-US" sz="1800" dirty="0">
                <a:solidFill>
                  <a:schemeClr val="tx1"/>
                </a:solidFill>
              </a:rPr>
              <a:t>polarized sentences without a type or manifestation label are found only about half the time.</a:t>
            </a:r>
            <a:endParaRPr lang="en-US" sz="1800" dirty="0"/>
          </a:p>
          <a:p>
            <a:pPr indent="0" marL="0">
              <a:spcAft>
                <a:spcPts val="1000"/>
              </a:spcAft>
              <a:buNone/>
            </a:pPr>
            <a:r>
              <a:rPr lang="en-US" sz="1800" b="1" dirty="0">
                <a:solidFill>
                  <a:schemeClr val="tx1"/>
                </a:solidFill>
              </a:rPr>
              <a:t>Possible label noise: </a:t>
            </a:r>
            <a:pPr indent="0" marL="0">
              <a:spcAft>
                <a:spcPts val="1000"/>
              </a:spcAft>
              <a:buNone/>
            </a:pPr>
            <a:r>
              <a:rPr lang="en-US" sz="1800" dirty="0">
                <a:solidFill>
                  <a:schemeClr val="tx1"/>
                </a:solidFill>
              </a:rPr>
              <a:t>some confident errors are open insults labelled non-polarized (sample read only).</a:t>
            </a:r>
            <a:endParaRPr lang="en-US" sz="18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Error analysis, Tasks 2 and 3: per-label errors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5852160" cy="914400"/>
        </p:xfrm>
        <a:graphic>
          <a:graphicData uri="http://schemas.openxmlformats.org/drawingml/2006/table">
            <a:tbl>
              <a:tblPr/>
              <a:tblGrid>
                <a:gridCol w="2286000"/>
                <a:gridCol w="1188720"/>
                <a:gridCol w="1188720"/>
                <a:gridCol w="1188720"/>
              </a:tblGrid>
              <a:tr h="365760">
                <a:tc>
                  <a:txBody>
                    <a:bodyPr/>
                    <a:lstStyle/>
                    <a:p>
                      <a:pPr algn="l" indent="0" marL="0">
                        <a:buNone/>
                      </a:pPr>
                      <a:r>
                        <a:rPr lang="en-US" sz="1500" b="1" dirty="0">
                          <a:solidFill>
                            <a:schemeClr val="tx1"/>
                          </a:solidFill>
                        </a:rPr>
                        <a:t>Label</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Precision</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Recall</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F1</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r>
              <a:tr h="365760">
                <a:tc>
                  <a:txBody>
                    <a:bodyPr/>
                    <a:lstStyle/>
                    <a:p>
                      <a:pPr algn="l" indent="0" marL="0">
                        <a:buNone/>
                      </a:pPr>
                      <a:r>
                        <a:rPr lang="en-US" sz="1500" dirty="0">
                          <a:solidFill>
                            <a:schemeClr val="tx1"/>
                          </a:solidFill>
                        </a:rPr>
                        <a:t>political</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0.64</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0.76</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0.69</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chemeClr val="tx1"/>
                          </a:solidFill>
                        </a:rPr>
                        <a:t>racial/ethnic</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0.52</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0.66</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0.58</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chemeClr val="tx1"/>
                          </a:solidFill>
                        </a:rPr>
                        <a:t>religious</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0.46</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0.54</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0.49</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chemeClr val="tx1"/>
                          </a:solidFill>
                        </a:rPr>
                        <a:t>gender/sexual</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0.52</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0.72</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0.60</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chemeClr val="tx1"/>
                          </a:solidFill>
                        </a:rPr>
                        <a:t>other</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0.39</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0.65</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0.49</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chemeClr val="tx1"/>
                          </a:solidFill>
                        </a:rPr>
                        <a:t>stereotype</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0.40</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0.58</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0.47</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chemeClr val="tx1"/>
                          </a:solidFill>
                        </a:rPr>
                        <a:t>vilification</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0.60</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0.70</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0.65</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chemeClr val="tx1"/>
                          </a:solidFill>
                        </a:rPr>
                        <a:t>dehumanization</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0.44</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0.52</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0.48</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chemeClr val="tx1"/>
                          </a:solidFill>
                        </a:rPr>
                        <a:t>extreme language</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0.48</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0.63</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0.54</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chemeClr val="tx1"/>
                          </a:solidFill>
                        </a:rPr>
                        <a:t>lack of empathy</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0.41</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0.55</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0.47</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chemeClr val="tx1"/>
                          </a:solidFill>
                        </a:rPr>
                        <a:t>invalidation</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0.39</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0.52</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500" dirty="0">
                          <a:solidFill>
                            <a:schemeClr val="tx1"/>
                          </a:solidFill>
                        </a:rPr>
                        <a:t>0.45</a:t>
                      </a:r>
                      <a:endParaRPr lang="en-US" sz="15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40080" y="5897880"/>
            <a:ext cx="5760720" cy="274320"/>
          </a:xfrm>
          <a:prstGeom prst="rect">
            <a:avLst/>
          </a:prstGeom>
          <a:noFill/>
          <a:ln/>
        </p:spPr>
        <p:txBody>
          <a:bodyPr wrap="square" lIns="0" tIns="0" rIns="0" bIns="0" rtlCol="0" anchor="ctr"/>
          <a:lstStyle/>
          <a:p>
            <a:pPr indent="0" marL="0">
              <a:buNone/>
            </a:pPr>
            <a:r>
              <a:rPr lang="en-US" sz="1200" dirty="0">
                <a:solidFill>
                  <a:schemeClr val="tx2"/>
                </a:solidFill>
              </a:rPr>
              <a:t>TF-IDF baseline, test set.</a:t>
            </a:r>
            <a:endParaRPr lang="en-US" sz="1200" dirty="0"/>
          </a:p>
        </p:txBody>
      </p:sp>
      <p:sp>
        <p:nvSpPr>
          <p:cNvPr id="6" name="Text 2"/>
          <p:cNvSpPr txBox="1"/>
          <p:nvPr/>
        </p:nvSpPr>
        <p:spPr>
          <a:xfrm>
            <a:off x="6949440" y="1417320"/>
            <a:ext cx="4599432" cy="4754880"/>
          </a:xfrm>
          <a:prstGeom prst="rect">
            <a:avLst/>
          </a:prstGeom>
          <a:noFill/>
          <a:ln/>
        </p:spPr>
        <p:txBody>
          <a:bodyPr wrap="square" lIns="0" tIns="0" rIns="0" bIns="0" rtlCol="0" anchor="t"/>
          <a:lstStyle/>
          <a:p>
            <a:pPr indent="0" marL="0">
              <a:spcAft>
                <a:spcPts val="1000"/>
              </a:spcAft>
              <a:buNone/>
            </a:pPr>
            <a:r>
              <a:rPr lang="en-US" sz="1800" b="1" dirty="0">
                <a:solidFill>
                  <a:schemeClr val="tx1"/>
                </a:solidFill>
              </a:rPr>
              <a:t>Over-prediction: </a:t>
            </a:r>
            <a:pPr indent="0" marL="0">
              <a:spcAft>
                <a:spcPts val="1000"/>
              </a:spcAft>
              <a:buNone/>
            </a:pPr>
            <a:r>
              <a:rPr lang="en-US" sz="1800" dirty="0">
                <a:solidFill>
                  <a:schemeClr val="tx1"/>
                </a:solidFill>
              </a:rPr>
              <a:t>recall is above precision for every label. "other" is predicted 263 times for 157 true cases.</a:t>
            </a:r>
            <a:endParaRPr lang="en-US" sz="1800" dirty="0"/>
          </a:p>
          <a:p>
            <a:pPr indent="0" marL="0">
              <a:spcAft>
                <a:spcPts val="1000"/>
              </a:spcAft>
              <a:buNone/>
            </a:pPr>
            <a:r>
              <a:rPr lang="en-US" sz="1800" b="1" dirty="0">
                <a:solidFill>
                  <a:schemeClr val="tx1"/>
                </a:solidFill>
              </a:rPr>
              <a:t>Task 2 misses are silent: </a:t>
            </a:r>
            <a:pPr indent="0" marL="0">
              <a:spcAft>
                <a:spcPts val="1000"/>
              </a:spcAft>
              <a:buNone/>
            </a:pPr>
            <a:r>
              <a:rPr lang="en-US" sz="1800" dirty="0">
                <a:solidFill>
                  <a:schemeClr val="tx1"/>
                </a:solidFill>
              </a:rPr>
              <a:t>about half the time no type is predicted. Missed "religious" becomes "political" in 56% of cases.</a:t>
            </a:r>
            <a:endParaRPr lang="en-US" sz="1800" dirty="0"/>
          </a:p>
          <a:p>
            <a:pPr indent="0" marL="0">
              <a:spcAft>
                <a:spcPts val="1000"/>
              </a:spcAft>
              <a:buNone/>
            </a:pPr>
            <a:r>
              <a:rPr lang="en-US" sz="1800" b="1" dirty="0">
                <a:solidFill>
                  <a:schemeClr val="tx1"/>
                </a:solidFill>
              </a:rPr>
              <a:t>Task 3 labels are mixed up: </a:t>
            </a:r>
            <a:pPr indent="0" marL="0">
              <a:spcAft>
                <a:spcPts val="1000"/>
              </a:spcAft>
              <a:buNone/>
            </a:pPr>
            <a:r>
              <a:rPr lang="en-US" sz="1800" dirty="0">
                <a:solidFill>
                  <a:schemeClr val="tx1"/>
                </a:solidFill>
              </a:rPr>
              <a:t>missed "dehumanization" is predicted as "vilification" in 64% of cases.</a:t>
            </a:r>
            <a:endParaRPr lang="en-US" sz="1800" dirty="0"/>
          </a:p>
          <a:p>
            <a:pPr indent="0" marL="0">
              <a:spcAft>
                <a:spcPts val="1000"/>
              </a:spcAft>
              <a:buNone/>
            </a:pPr>
            <a:r>
              <a:rPr lang="en-US" sz="1800" b="1" dirty="0">
                <a:solidFill>
                  <a:schemeClr val="tx1"/>
                </a:solidFill>
              </a:rPr>
              <a:t>Exact match: </a:t>
            </a:r>
            <a:pPr indent="0" marL="0">
              <a:spcAft>
                <a:spcPts val="1000"/>
              </a:spcAft>
              <a:buNone/>
            </a:pPr>
            <a:r>
              <a:rPr lang="en-US" sz="1800" dirty="0">
                <a:solidFill>
                  <a:schemeClr val="tx1"/>
                </a:solidFill>
              </a:rPr>
              <a:t>0.57 on Task 2, 0.47 on Task 3.</a:t>
            </a:r>
            <a:endParaRPr lang="en-US" sz="18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Discussion</a:t>
            </a:r>
            <a:endParaRPr lang="en-US" sz="3000" dirty="0"/>
          </a:p>
        </p:txBody>
      </p:sp>
      <p:sp>
        <p:nvSpPr>
          <p:cNvPr id="4" name="Text 1"/>
          <p:cNvSpPr txBox="1"/>
          <p:nvPr/>
        </p:nvSpPr>
        <p:spPr>
          <a:xfrm>
            <a:off x="640080" y="1417320"/>
            <a:ext cx="10908792" cy="4846320"/>
          </a:xfrm>
          <a:prstGeom prst="rect">
            <a:avLst/>
          </a:prstGeom>
          <a:noFill/>
          <a:ln/>
        </p:spPr>
        <p:txBody>
          <a:bodyPr wrap="square" lIns="0" tIns="0" rIns="0" bIns="0" rtlCol="0" anchor="t"/>
          <a:lstStyle/>
          <a:p>
            <a:pPr indent="0" marL="0">
              <a:spcAft>
                <a:spcPts val="1000"/>
              </a:spcAft>
              <a:buNone/>
            </a:pPr>
            <a:r>
              <a:rPr lang="en-US" sz="2200" b="1" dirty="0">
                <a:solidFill>
                  <a:schemeClr val="tx1"/>
                </a:solidFill>
              </a:rPr>
              <a:t>Small data favours TF-IDF. </a:t>
            </a:r>
            <a:pPr indent="0" marL="0">
              <a:spcAft>
                <a:spcPts val="1000"/>
              </a:spcAft>
              <a:buNone/>
            </a:pPr>
            <a:r>
              <a:rPr lang="en-US" sz="2200" dirty="0">
                <a:solidFill>
                  <a:schemeClr val="tx1"/>
                </a:solidFill>
              </a:rPr>
              <a:t>With about 8,500 training sentences, a simple linear model matches or beats the neural models on a random split.</a:t>
            </a:r>
            <a:endParaRPr lang="en-US" sz="2200" dirty="0"/>
          </a:p>
          <a:p>
            <a:pPr indent="0" marL="0">
              <a:spcAft>
                <a:spcPts val="1000"/>
              </a:spcAft>
              <a:buNone/>
            </a:pPr>
            <a:r>
              <a:rPr lang="en-US" sz="2200" b="1" dirty="0">
                <a:solidFill>
                  <a:schemeClr val="tx1"/>
                </a:solidFill>
              </a:rPr>
              <a:t>Random-split scores are optimistic. </a:t>
            </a:r>
            <a:pPr indent="0" marL="0">
              <a:spcAft>
                <a:spcPts val="1000"/>
              </a:spcAft>
              <a:buNone/>
            </a:pPr>
            <a:r>
              <a:rPr lang="en-US" sz="2200" dirty="0">
                <a:solidFill>
                  <a:schemeClr val="tx1"/>
                </a:solidFill>
              </a:rPr>
              <a:t>Part of the score is recognising a contributor's source and style.</a:t>
            </a:r>
            <a:endParaRPr lang="en-US" sz="2200" dirty="0"/>
          </a:p>
          <a:p>
            <a:pPr indent="0" marL="0">
              <a:spcAft>
                <a:spcPts val="1000"/>
              </a:spcAft>
              <a:buNone/>
            </a:pPr>
            <a:r>
              <a:rPr lang="en-US" sz="2200" b="1" dirty="0">
                <a:solidFill>
                  <a:schemeClr val="tx1"/>
                </a:solidFill>
              </a:rPr>
              <a:t>Neural models generalise better to new contributors, </a:t>
            </a:r>
            <a:pPr indent="0" marL="0">
              <a:spcAft>
                <a:spcPts val="1000"/>
              </a:spcAft>
              <a:buNone/>
            </a:pPr>
            <a:r>
              <a:rPr lang="en-US" sz="2200" dirty="0">
                <a:solidFill>
                  <a:schemeClr val="tx1"/>
                </a:solidFill>
              </a:rPr>
              <a:t>the Bi-LSTM and XLM-R most.</a:t>
            </a:r>
            <a:endParaRPr lang="en-US" sz="2200" dirty="0"/>
          </a:p>
          <a:p>
            <a:pPr indent="0" marL="0">
              <a:spcAft>
                <a:spcPts val="1000"/>
              </a:spcAft>
              <a:buNone/>
            </a:pPr>
            <a:r>
              <a:rPr lang="en-US" sz="2200" b="1" dirty="0">
                <a:solidFill>
                  <a:schemeClr val="tx1"/>
                </a:solidFill>
              </a:rPr>
              <a:t>The input unit matters. </a:t>
            </a:r>
            <a:pPr indent="0" marL="0">
              <a:spcAft>
                <a:spcPts val="1000"/>
              </a:spcAft>
              <a:buNone/>
            </a:pPr>
            <a:r>
              <a:rPr lang="en-US" sz="2200" dirty="0">
                <a:solidFill>
                  <a:schemeClr val="tx1"/>
                </a:solidFill>
              </a:rPr>
              <a:t>Inconsistent word segmentation makes whitespace words unreliable; syllables and characters avoid the problem.</a:t>
            </a:r>
            <a:endParaRPr lang="en-US" sz="2200" dirty="0"/>
          </a:p>
          <a:p>
            <a:pPr indent="0" marL="0">
              <a:spcAft>
                <a:spcPts val="1000"/>
              </a:spcAft>
              <a:buNone/>
            </a:pPr>
            <a:r>
              <a:rPr lang="en-US" sz="2200" b="1" dirty="0">
                <a:solidFill>
                  <a:schemeClr val="tx1"/>
                </a:solidFill>
              </a:rPr>
              <a:t>Explicit labels are easier than implicit ones. </a:t>
            </a:r>
            <a:pPr indent="0" marL="0">
              <a:spcAft>
                <a:spcPts val="1000"/>
              </a:spcAft>
              <a:buNone/>
            </a:pPr>
            <a:r>
              <a:rPr lang="en-US" sz="2200" dirty="0">
                <a:solidFill>
                  <a:schemeClr val="tx1"/>
                </a:solidFill>
              </a:rPr>
              <a:t>"political" and "vilification" reach 0.65 to 0.69; "stereotype", "lack of empathy" and "invalidation" stay below 0.47.</a:t>
            </a:r>
            <a:endParaRPr lang="en-US" sz="2200" dirty="0"/>
          </a:p>
          <a:p>
            <a:pPr indent="0" marL="0">
              <a:spcAft>
                <a:spcPts val="1000"/>
              </a:spcAft>
              <a:buNone/>
            </a:pPr>
            <a:r>
              <a:rPr lang="en-US" sz="2200" b="1" dirty="0">
                <a:solidFill>
                  <a:schemeClr val="tx1"/>
                </a:solidFill>
              </a:rPr>
              <a:t>Small gaps are noise. </a:t>
            </a:r>
            <a:pPr indent="0" marL="0">
              <a:spcAft>
                <a:spcPts val="1000"/>
              </a:spcAft>
              <a:buNone/>
            </a:pPr>
            <a:r>
              <a:rPr lang="en-US" sz="2200" dirty="0">
                <a:solidFill>
                  <a:schemeClr val="tx1"/>
                </a:solidFill>
              </a:rPr>
              <a:t>Test sets have about 1,000 sentences, and a second split changes the ranking; differences of 0.01 to 0.04 are not reliable.</a:t>
            </a:r>
            <a:endParaRPr lang="en-US" sz="22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Limitations and next steps</a:t>
            </a:r>
            <a:endParaRPr lang="en-US" sz="3000" dirty="0"/>
          </a:p>
        </p:txBody>
      </p:sp>
      <p:sp>
        <p:nvSpPr>
          <p:cNvPr id="4" name="Text 1"/>
          <p:cNvSpPr txBox="1"/>
          <p:nvPr/>
        </p:nvSpPr>
        <p:spPr>
          <a:xfrm>
            <a:off x="640080" y="1417320"/>
            <a:ext cx="5180076" cy="365760"/>
          </a:xfrm>
          <a:prstGeom prst="rect">
            <a:avLst/>
          </a:prstGeom>
          <a:noFill/>
          <a:ln/>
        </p:spPr>
        <p:txBody>
          <a:bodyPr wrap="square" lIns="0" tIns="0" rIns="0" bIns="0" rtlCol="0" anchor="ctr"/>
          <a:lstStyle/>
          <a:p>
            <a:pPr indent="0" marL="0">
              <a:buNone/>
            </a:pPr>
            <a:r>
              <a:rPr lang="en-US" sz="1600" b="1" dirty="0">
                <a:solidFill>
                  <a:schemeClr val="tx2"/>
                </a:solidFill>
              </a:rPr>
              <a:t>Limitations</a:t>
            </a:r>
            <a:endParaRPr lang="en-US" sz="1600" dirty="0"/>
          </a:p>
        </p:txBody>
      </p:sp>
      <p:sp>
        <p:nvSpPr>
          <p:cNvPr id="5" name="Text 2"/>
          <p:cNvSpPr txBox="1"/>
          <p:nvPr/>
        </p:nvSpPr>
        <p:spPr>
          <a:xfrm>
            <a:off x="640080" y="1920240"/>
            <a:ext cx="5180076" cy="4206240"/>
          </a:xfrm>
          <a:prstGeom prst="rect">
            <a:avLst/>
          </a:prstGeom>
          <a:noFill/>
          <a:ln/>
        </p:spPr>
        <p:txBody>
          <a:bodyPr wrap="square" lIns="0" tIns="0" rIns="0" bIns="0" rtlCol="0" anchor="t"/>
          <a:lstStyle/>
          <a:p>
            <a:pPr marL="228600" indent="-228600">
              <a:spcAft>
                <a:spcPts val="1000"/>
              </a:spcAft>
              <a:buSzPct val="100000"/>
              <a:buChar char="•"/>
            </a:pPr>
            <a:r>
              <a:rPr lang="en-US" sz="2200" dirty="0">
                <a:solidFill>
                  <a:schemeClr val="tx1"/>
                </a:solidFill>
              </a:rPr>
              <a:t>XLM-R: one run per task, no tuning, token embeddings frozen.</a:t>
            </a:r>
            <a:endParaRPr lang="en-US" sz="2200" dirty="0"/>
          </a:p>
          <a:p>
            <a:pPr marL="228600" indent="-228600">
              <a:spcAft>
                <a:spcPts val="1000"/>
              </a:spcAft>
              <a:buSzPct val="100000"/>
              <a:buChar char="•"/>
            </a:pPr>
            <a:r>
              <a:rPr lang="en-US" sz="2200" dirty="0">
                <a:solidFill>
                  <a:schemeClr val="tx1"/>
                </a:solidFill>
              </a:rPr>
              <a:t>Error analysis covers TF-IDF and the Bi-LSTM only.</a:t>
            </a:r>
            <a:endParaRPr lang="en-US" sz="2200" dirty="0"/>
          </a:p>
          <a:p>
            <a:pPr marL="228600" indent="-228600">
              <a:spcAft>
                <a:spcPts val="1000"/>
              </a:spcAft>
              <a:buSzPct val="100000"/>
              <a:buChar char="•"/>
            </a:pPr>
            <a:r>
              <a:rPr lang="en-US" sz="2200" dirty="0">
                <a:solidFill>
                  <a:schemeClr val="tx1"/>
                </a:solidFill>
              </a:rPr>
              <a:t>Almost every sentence has a single annotator.</a:t>
            </a:r>
            <a:endParaRPr lang="en-US" sz="2200" dirty="0"/>
          </a:p>
          <a:p>
            <a:pPr marL="228600" indent="-228600">
              <a:spcAft>
                <a:spcPts val="1000"/>
              </a:spcAft>
              <a:buSzPct val="100000"/>
              <a:buChar char="•"/>
            </a:pPr>
            <a:r>
              <a:rPr lang="en-US" sz="2200" dirty="0">
                <a:solidFill>
                  <a:schemeClr val="tx1"/>
                </a:solidFill>
              </a:rPr>
              <a:t>Some rows cannot be traced back to a source or annotator.</a:t>
            </a:r>
            <a:endParaRPr lang="en-US" sz="2200" dirty="0"/>
          </a:p>
          <a:p>
            <a:pPr marL="228600" indent="-228600">
              <a:spcAft>
                <a:spcPts val="1000"/>
              </a:spcAft>
              <a:buSzPct val="100000"/>
              <a:buChar char="•"/>
            </a:pPr>
            <a:r>
              <a:rPr lang="en-US" sz="2200" dirty="0">
                <a:solidFill>
                  <a:schemeClr val="tx1"/>
                </a:solidFill>
              </a:rPr>
              <a:t>342 polarized sentences have no type; 568 have no manifestation.</a:t>
            </a:r>
            <a:endParaRPr lang="en-US" sz="2200" dirty="0"/>
          </a:p>
        </p:txBody>
      </p:sp>
      <p:sp>
        <p:nvSpPr>
          <p:cNvPr id="6" name="Text 3"/>
          <p:cNvSpPr txBox="1"/>
          <p:nvPr/>
        </p:nvSpPr>
        <p:spPr>
          <a:xfrm>
            <a:off x="6368796" y="1417320"/>
            <a:ext cx="5180076" cy="365760"/>
          </a:xfrm>
          <a:prstGeom prst="rect">
            <a:avLst/>
          </a:prstGeom>
          <a:noFill/>
          <a:ln/>
        </p:spPr>
        <p:txBody>
          <a:bodyPr wrap="square" lIns="0" tIns="0" rIns="0" bIns="0" rtlCol="0" anchor="ctr"/>
          <a:lstStyle/>
          <a:p>
            <a:pPr indent="0" marL="0">
              <a:buNone/>
            </a:pPr>
            <a:r>
              <a:rPr lang="en-US" sz="1600" b="1" dirty="0">
                <a:solidFill>
                  <a:schemeClr val="tx2"/>
                </a:solidFill>
              </a:rPr>
              <a:t>Next steps</a:t>
            </a:r>
            <a:endParaRPr lang="en-US" sz="1600" dirty="0"/>
          </a:p>
        </p:txBody>
      </p:sp>
      <p:sp>
        <p:nvSpPr>
          <p:cNvPr id="7" name="Text 4"/>
          <p:cNvSpPr txBox="1"/>
          <p:nvPr/>
        </p:nvSpPr>
        <p:spPr>
          <a:xfrm>
            <a:off x="6368796" y="1920240"/>
            <a:ext cx="5180076" cy="4206240"/>
          </a:xfrm>
          <a:prstGeom prst="rect">
            <a:avLst/>
          </a:prstGeom>
          <a:noFill/>
          <a:ln/>
        </p:spPr>
        <p:txBody>
          <a:bodyPr wrap="square" lIns="0" tIns="0" rIns="0" bIns="0" rtlCol="0" anchor="t"/>
          <a:lstStyle/>
          <a:p>
            <a:pPr marL="228600" indent="-228600">
              <a:spcAft>
                <a:spcPts val="1000"/>
              </a:spcAft>
              <a:buSzPct val="100000"/>
              <a:buChar char="•"/>
            </a:pPr>
            <a:r>
              <a:rPr lang="en-US" sz="2200" dirty="0">
                <a:solidFill>
                  <a:schemeClr val="tx1"/>
                </a:solidFill>
              </a:rPr>
              <a:t>Agree on one annotation guideline and re-check the noisy labels.</a:t>
            </a:r>
            <a:endParaRPr lang="en-US" sz="2200" dirty="0"/>
          </a:p>
          <a:p>
            <a:pPr marL="228600" indent="-228600">
              <a:spcAft>
                <a:spcPts val="1000"/>
              </a:spcAft>
              <a:buSzPct val="100000"/>
              <a:buChar char="•"/>
            </a:pPr>
            <a:r>
              <a:rPr lang="en-US" sz="2200" dirty="0">
                <a:solidFill>
                  <a:schemeClr val="tx1"/>
                </a:solidFill>
              </a:rPr>
              <a:t>Apply one segmentation to all text.</a:t>
            </a:r>
            <a:endParaRPr lang="en-US" sz="2200" dirty="0"/>
          </a:p>
          <a:p>
            <a:pPr marL="228600" indent="-228600">
              <a:spcAft>
                <a:spcPts val="1000"/>
              </a:spcAft>
              <a:buSzPct val="100000"/>
              <a:buChar char="•"/>
            </a:pPr>
            <a:r>
              <a:rPr lang="en-US" sz="2200" dirty="0">
                <a:solidFill>
                  <a:schemeClr val="tx1"/>
                </a:solidFill>
              </a:rPr>
              <a:t>Tune XLM-R with several seeds and full fine-tuning.</a:t>
            </a:r>
            <a:endParaRPr lang="en-US" sz="2200" dirty="0"/>
          </a:p>
          <a:p>
            <a:pPr marL="228600" indent="-228600">
              <a:spcAft>
                <a:spcPts val="1000"/>
              </a:spcAft>
              <a:buSzPct val="100000"/>
              <a:buChar char="•"/>
            </a:pPr>
            <a:r>
              <a:rPr lang="en-US" sz="2200" dirty="0">
                <a:solidFill>
                  <a:schemeClr val="tx1"/>
                </a:solidFill>
              </a:rPr>
              <a:t>Try an ensemble of TF-IDF and a neural model.</a:t>
            </a:r>
            <a:endParaRPr lang="en-US" sz="2200" dirty="0"/>
          </a:p>
          <a:p>
            <a:pPr marL="228600" indent="-228600">
              <a:spcAft>
                <a:spcPts val="1000"/>
              </a:spcAft>
              <a:buSzPct val="100000"/>
              <a:buChar char="•"/>
            </a:pPr>
            <a:r>
              <a:rPr lang="en-US" sz="2200" dirty="0">
                <a:solidFill>
                  <a:schemeClr val="tx1"/>
                </a:solidFill>
              </a:rPr>
              <a:t>Report contributor-held-out scores as the main result.</a:t>
            </a:r>
            <a:endParaRPr lang="en-US" sz="22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A second experiment: multi-task models</a:t>
            </a:r>
            <a:endParaRPr lang="en-US" sz="3000" dirty="0"/>
          </a:p>
        </p:txBody>
      </p:sp>
      <p:graphicFrame>
        <p:nvGraphicFramePr>
          <p:cNvPr id="11" name="Table 0"/>
          <p:cNvGraphicFramePr>
            <a:graphicFrameLocks noGrp="1"/>
          </p:cNvGraphicFramePr>
          <p:nvPr/>
        </p:nvGraphicFramePr>
        <p:xfrm>
          <a:off x="640080" y="1371600"/>
          <a:ext cx="10908792" cy="3648456"/>
        </p:xfrm>
        <a:graphic>
          <a:graphicData uri="http://schemas.openxmlformats.org/drawingml/2006/table">
            <a:tbl>
              <a:tblPr/>
              <a:tblGrid>
                <a:gridCol w="2286000"/>
                <a:gridCol w="3749040"/>
                <a:gridCol w="4873752"/>
              </a:tblGrid>
              <a:tr h="521208">
                <a:tc>
                  <a:txBody>
                    <a:bodyPr/>
                    <a:lstStyle/>
                    <a:p>
                      <a:pPr algn="l" indent="0" marL="0">
                        <a:buNone/>
                      </a:pPr>
                      <a:r>
                        <a:rPr lang="en-US" sz="1600" b="1" dirty="0">
                          <a:solidFill>
                            <a:schemeClr val="tx1"/>
                          </a:solidFill>
                        </a:rPr>
                        <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Main experiment</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Multi-task experiment</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r>
              <a:tr h="521208">
                <a:tc>
                  <a:txBody>
                    <a:bodyPr/>
                    <a:lstStyle/>
                    <a:p>
                      <a:pPr algn="l" indent="0" marL="0">
                        <a:buNone/>
                      </a:pPr>
                      <a:r>
                        <a:rPr lang="en-US" sz="1600" dirty="0">
                          <a:solidFill>
                            <a:schemeClr val="tx1"/>
                          </a:solidFill>
                        </a:rPr>
                        <a:t>Sentences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10,710 / 10,710 / 10,116</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10,068 for all three tasks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21208">
                <a:tc>
                  <a:txBody>
                    <a:bodyPr/>
                    <a:lstStyle/>
                    <a:p>
                      <a:pPr algn="l" indent="0" marL="0">
                        <a:buNone/>
                      </a:pPr>
                      <a:r>
                        <a:rPr lang="en-US" sz="1600" dirty="0">
                          <a:solidFill>
                            <a:schemeClr val="tx1"/>
                          </a:solidFill>
                        </a:rPr>
                        <a:t>Cleaning</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exact duplicates removed</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also drops 1,200 rows without original_id and conflicting duplicates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21208">
                <a:tc>
                  <a:txBody>
                    <a:bodyPr/>
                    <a:lstStyle/>
                    <a:p>
                      <a:pPr algn="l" indent="0" marL="0">
                        <a:buNone/>
                      </a:pPr>
                      <a:r>
                        <a:rPr lang="en-US" sz="1600" dirty="0">
                          <a:solidFill>
                            <a:schemeClr val="tx1"/>
                          </a:solidFill>
                        </a:rPr>
                        <a:t>Text</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original spacing</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re-segmented into words (mmdt-tokenizer)</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21208">
                <a:tc>
                  <a:txBody>
                    <a:bodyPr/>
                    <a:lstStyle/>
                    <a:p>
                      <a:pPr algn="l" indent="0" marL="0">
                        <a:buNone/>
                      </a:pPr>
                      <a:r>
                        <a:rPr lang="en-US" sz="1600" dirty="0">
                          <a:solidFill>
                            <a:schemeClr val="tx1"/>
                          </a:solidFill>
                        </a:rPr>
                        <a:t>Non-polarized rows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type / manifestation cleared</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kept: 1,903 rows still carry a type</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21208">
                <a:tc>
                  <a:txBody>
                    <a:bodyPr/>
                    <a:lstStyle/>
                    <a:p>
                      <a:pPr algn="l" indent="0" marL="0">
                        <a:buNone/>
                      </a:pPr>
                      <a:r>
                        <a:rPr lang="en-US" sz="1600" dirty="0">
                          <a:solidFill>
                            <a:schemeClr val="tx1"/>
                          </a:solidFill>
                        </a:rPr>
                        <a:t>Split</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one 80 / 10 / 10 split per task</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one shared multi-label stratified split</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21208">
                <a:tc>
                  <a:txBody>
                    <a:bodyPr/>
                    <a:lstStyle/>
                    <a:p>
                      <a:pPr algn="l" indent="0" marL="0">
                        <a:buNone/>
                      </a:pPr>
                      <a:r>
                        <a:rPr lang="en-US" sz="1600" dirty="0">
                          <a:solidFill>
                            <a:schemeClr val="tx1"/>
                          </a:solidFill>
                        </a:rPr>
                        <a:t>Model</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one model per task</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l" indent="0" marL="0">
                        <a:buNone/>
                      </a:pPr>
                      <a:r>
                        <a:rPr lang="en-US" sz="1600" dirty="0">
                          <a:solidFill>
                            <a:schemeClr val="tx1"/>
                          </a:solidFill>
                        </a:rPr>
                        <a:t>one encoder with three output heads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bl>
          </a:graphicData>
        </a:graphic>
      </p:graphicFrame>
      <p:sp>
        <p:nvSpPr>
          <p:cNvPr id="5" name="Text 5"/>
          <p:cNvSpPr txBox="1"/>
          <p:nvPr/>
        </p:nvSpPr>
        <p:spPr>
          <a:xfrm>
            <a:off x="640080" y="5212080"/>
            <a:ext cx="10908792" cy="914400"/>
          </a:xfrm>
          <a:prstGeom prst="rect">
            <a:avLst/>
          </a:prstGeom>
          <a:noFill/>
          <a:ln/>
        </p:spPr>
        <p:txBody>
          <a:bodyPr wrap="square" lIns="0" tIns="0" rIns="0" bIns="0" rtlCol="0" anchor="t"/>
          <a:lstStyle/>
          <a:p>
            <a:pPr indent="0" marL="0">
              <a:spcAft>
                <a:spcPts val="1000"/>
              </a:spcAft>
              <a:buNone/>
            </a:pPr>
            <a:r>
              <a:rPr lang="en-US" sz="1800" b="1" dirty="0">
                <a:solidFill>
                  <a:schemeClr val="tx1"/>
                </a:solidFill>
              </a:rPr>
              <a:t>Models: </a:t>
            </a:r>
            <a:r>
              <a:rPr lang="en-US" sz="1800" dirty="0">
                <a:solidFill>
                  <a:schemeClr val="tx1"/>
                </a:solidFill>
              </a:rPr>
              <a:t>XLM-RoBERTa, mBERT, Bi-LSTM on words and on syllables; Kaggle T4 GPU; epoch chosen on validation.</a:t>
            </a:r>
            <a:endParaRPr lang="en-US" sz="1800" dirty="0"/>
          </a:p>
          <a:p>
            <a:pPr indent="0" marL="0">
              <a:spcAft>
                <a:spcPts val="1000"/>
              </a:spcAft>
              <a:buNone/>
            </a:pPr>
            <a:r>
              <a:rPr lang="en-US" sz="1800" b="1" dirty="0">
                <a:solidFill>
                  <a:schemeClr val="tx1"/>
                </a:solidFill>
              </a:rPr>
              <a:t>Not comparable directly: </a:t>
            </a:r>
            <a:r>
              <a:rPr lang="en-US" sz="1800" dirty="0">
                <a:solidFill>
                  <a:schemeClr val="tx1"/>
                </a:solidFill>
              </a:rPr>
              <a:t>about half of his test sentences are in our training splits.</a:t>
            </a:r>
            <a:endParaRPr lang="en-US" sz="18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08792" cy="777240"/>
          </a:xfrm>
          <a:prstGeom prst="rect">
            <a:avLst/>
          </a:prstGeom>
          <a:noFill/>
          <a:ln/>
        </p:spPr>
        <p:txBody>
          <a:bodyPr wrap="square" lIns="0" tIns="0" rIns="0" bIns="0" rtlCol="0" anchor="ctr"/>
          <a:lstStyle/>
          <a:p>
            <a:pPr algn="l" indent="0" marL="0">
              <a:buNone/>
            </a:pPr>
            <a:r>
              <a:rPr lang="en-US" sz="3000" b="1" dirty="0">
                <a:solidFill>
                  <a:schemeClr val="tx1"/>
                </a:solidFill>
              </a:rPr>
              <a:t>On a second split, the baseline is beaten</a:t>
            </a:r>
            <a:endParaRPr lang="en-US" sz="3000" dirty="0"/>
          </a:p>
        </p:txBody>
      </p:sp>
      <p:graphicFrame>
        <p:nvGraphicFramePr>
          <p:cNvPr id="11" name="Table 0"/>
          <p:cNvGraphicFramePr>
            <a:graphicFrameLocks noGrp="1"/>
          </p:cNvGraphicFramePr>
          <p:nvPr/>
        </p:nvGraphicFramePr>
        <p:xfrm>
          <a:off x="640080" y="1417320"/>
          <a:ext cx="6309360" cy="3840480"/>
        </p:xfrm>
        <a:graphic>
          <a:graphicData uri="http://schemas.openxmlformats.org/drawingml/2006/table">
            <a:tbl>
              <a:tblPr/>
              <a:tblGrid>
                <a:gridCol w="3017520"/>
                <a:gridCol w="1097280"/>
                <a:gridCol w="1097280"/>
                <a:gridCol w="1097280"/>
              </a:tblGrid>
              <a:tr h="548640">
                <a:tc>
                  <a:txBody>
                    <a:bodyPr/>
                    <a:lstStyle/>
                    <a:p>
                      <a:pPr algn="l" indent="0" marL="0">
                        <a:buNone/>
                      </a:pPr>
                      <a:r>
                        <a:rPr lang="en-US" sz="1600" b="1" dirty="0">
                          <a:solidFill>
                            <a:schemeClr val="tx1"/>
                          </a:solidFill>
                        </a:rPr>
                        <a:t>Model</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Task 1</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Task 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Task 3</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2"/>
                    </a:solidFill>
                  </a:tcPr>
                </a:tc>
              </a:tr>
              <a:tr h="548640">
                <a:tc>
                  <a:txBody>
                    <a:bodyPr/>
                    <a:lstStyle/>
                    <a:p>
                      <a:pPr algn="l" indent="0" marL="0">
                        <a:buNone/>
                      </a:pPr>
                      <a:r>
                        <a:rPr lang="en-US" sz="1600" dirty="0">
                          <a:solidFill>
                            <a:schemeClr val="tx1"/>
                          </a:solidFill>
                        </a:rPr>
                        <a:t>TF-IDF + linear (ours)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0.733</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0.583</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0.456</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XLM-R, no class weights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tx1"/>
                          </a:solidFill>
                        </a:rPr>
                        <a:t>0.772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0.261</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0.159</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XLM-R</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0.769</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0.556</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0.449</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mBERT</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0.760</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0.565</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0.448</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Bi-LSTM, words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0.686</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0.481</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0.392</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chemeClr val="tx1"/>
                          </a:solidFill>
                        </a:rPr>
                        <a:t>Bi-LSTM, syllables</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tx1"/>
                          </a:solidFill>
                        </a:rPr>
                        <a:t>0.734</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tx1"/>
                          </a:solidFill>
                        </a:rPr>
                        <a:t>0.604</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tx1"/>
                          </a:solidFill>
                        </a:rPr>
                        <a:t>0.461</a:t>
                      </a:r>
                      <a:endParaRPr lang="en-US" sz="1600" dirty="0"/>
                    </a:p>
                  </a:txBody>
                  <a:tcPr marL="91440" marR="91440" marT="36576" marB="36576"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rgbClr val="FFFFFF"/>
                    </a:solidFill>
                  </a:tcPr>
                </a:tc>
              </a:tr>
            </a:tbl>
          </a:graphicData>
        </a:graphic>
      </p:graphicFrame>
      <p:sp>
        <p:nvSpPr>
          <p:cNvPr id="6" name="Text 6"/>
          <p:cNvSpPr txBox="1"/>
          <p:nvPr/>
        </p:nvSpPr>
        <p:spPr>
          <a:xfrm>
            <a:off x="640080" y="5394960"/>
            <a:ext cx="6309360" cy="320040"/>
          </a:xfrm>
          <a:prstGeom prst="rect">
            <a:avLst/>
          </a:prstGeom>
          <a:noFill/>
          <a:ln/>
        </p:spPr>
        <p:txBody>
          <a:bodyPr wrap="square" lIns="0" tIns="0" rIns="0" bIns="0" rtlCol="0" anchor="t"/>
          <a:lstStyle/>
          <a:p>
            <a:pPr indent="0" marL="0">
              <a:buNone/>
            </a:pPr>
            <a:r>
              <a:rPr lang="en-US" sz="1200" dirty="0">
                <a:solidFill>
                  <a:schemeClr val="tx2"/>
                </a:solidFill>
              </a:rPr>
              <a:t>Test macro F1 on his split (1,007 sentences), one run each. Best per column in bold.</a:t>
            </a:r>
          </a:p>
        </p:txBody>
      </p:sp>
      <p:sp>
        <p:nvSpPr>
          <p:cNvPr id="5" name="Text 5"/>
          <p:cNvSpPr txBox="1"/>
          <p:nvPr/>
        </p:nvSpPr>
        <p:spPr>
          <a:xfrm>
            <a:off x="7315200" y="1417320"/>
            <a:ext cx="4233672" cy="4846320"/>
          </a:xfrm>
          <a:prstGeom prst="rect">
            <a:avLst/>
          </a:prstGeom>
          <a:noFill/>
          <a:ln/>
        </p:spPr>
        <p:txBody>
          <a:bodyPr wrap="square" lIns="0" tIns="0" rIns="0" bIns="0" rtlCol="0" anchor="t"/>
          <a:lstStyle/>
          <a:p>
            <a:pPr indent="0" marL="0">
              <a:spcAft>
                <a:spcPts val="1000"/>
              </a:spcAft>
              <a:buNone/>
            </a:pPr>
            <a:r>
              <a:rPr lang="en-US" sz="1600" b="1" dirty="0">
                <a:solidFill>
                  <a:schemeClr val="tx1"/>
                </a:solidFill>
              </a:rPr>
              <a:t>XLM-R leads Task 1 </a:t>
            </a:r>
            <a:r>
              <a:rPr lang="en-US" sz="1600" dirty="0">
                <a:solidFill>
                  <a:schemeClr val="tx1"/>
                </a:solidFill>
              </a:rPr>
              <a:t>by 0.04; the syllable Bi-LSTM leads Task 2 by 0.02; Task 3 is a tie.</a:t>
            </a:r>
            <a:endParaRPr lang="en-US" sz="1600" dirty="0"/>
          </a:p>
          <a:p>
            <a:pPr indent="0" marL="0">
              <a:spcAft>
                <a:spcPts val="1000"/>
              </a:spcAft>
              <a:buNone/>
            </a:pPr>
            <a:r>
              <a:rPr lang="en-US" sz="1600" b="1" dirty="0">
                <a:solidFill>
                  <a:schemeClr val="tx1"/>
                </a:solidFill>
              </a:rPr>
              <a:t>Why the baseline drops (0.790 to 0.733): </a:t>
            </a:r>
            <a:r>
              <a:rPr lang="en-US" sz="1600" dirty="0">
                <a:solidFill>
                  <a:schemeClr val="tx1"/>
                </a:solidFill>
              </a:rPr>
              <a:t>the 1,200 rows dropped here were among its easiest (accuracy 0.93).</a:t>
            </a:r>
            <a:endParaRPr lang="en-US" sz="1600" dirty="0"/>
          </a:p>
          <a:p>
            <a:pPr indent="0" marL="0">
              <a:spcAft>
                <a:spcPts val="1000"/>
              </a:spcAft>
              <a:buNone/>
            </a:pPr>
            <a:r>
              <a:rPr lang="en-US" sz="1600" b="1" dirty="0">
                <a:solidFill>
                  <a:schemeClr val="tx1"/>
                </a:solidFill>
              </a:rPr>
              <a:t>Class weights are essential: </a:t>
            </a:r>
            <a:r>
              <a:rPr lang="en-US" sz="1600" dirty="0">
                <a:solidFill>
                  <a:schemeClr val="tx1"/>
                </a:solidFill>
              </a:rPr>
              <a:t>without them XLM-R scores 0.26 and 0.16 on Tasks 2 and 3.</a:t>
            </a:r>
            <a:endParaRPr lang="en-US" sz="1600" dirty="0"/>
          </a:p>
          <a:p>
            <a:pPr indent="0" marL="0">
              <a:spcAft>
                <a:spcPts val="1000"/>
              </a:spcAft>
              <a:buNone/>
            </a:pPr>
            <a:r>
              <a:rPr lang="en-US" sz="1600" b="1" dirty="0">
                <a:solidFill>
                  <a:schemeClr val="tx1"/>
                </a:solidFill>
              </a:rPr>
              <a:t>Syllables beat words again </a:t>
            </a:r>
            <a:r>
              <a:rPr lang="en-US" sz="1600" dirty="0">
                <a:solidFill>
                  <a:schemeClr val="tx1"/>
                </a:solidFill>
              </a:rPr>
              <a:t>for the Bi-LSTM, by 0.05 to 0.12.</a:t>
            </a:r>
            <a:endParaRPr lang="en-US" sz="1600" dirty="0"/>
          </a:p>
          <a:p>
            <a:pPr indent="0" marL="0">
              <a:spcAft>
                <a:spcPts val="1000"/>
              </a:spcAft>
              <a:buNone/>
            </a:pPr>
            <a:r>
              <a:rPr lang="en-US" sz="1600" b="1" dirty="0">
                <a:solidFill>
                  <a:schemeClr val="tx1"/>
                </a:solidFill>
              </a:rPr>
              <a:t>XLM-R and mBERT </a:t>
            </a:r>
            <a:r>
              <a:rPr lang="en-US" sz="1600" dirty="0">
                <a:solidFill>
                  <a:schemeClr val="tx1"/>
                </a:solidFill>
              </a:rPr>
              <a:t>are within 0.01 of each other on every task.</a:t>
            </a:r>
            <a:endParaRPr lang="en-US" sz="16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yPolar Plain">
  <a:themeElements>
    <a:clrScheme name="myPolar Plain">
      <a:dk1>
        <a:srgbClr val="1F2933"/>
      </a:dk1>
      <a:lt1>
        <a:srgbClr val="FFFFFF"/>
      </a:lt1>
      <a:dk2>
        <a:srgbClr val="52606D"/>
      </a:dk2>
      <a:lt2>
        <a:srgbClr val="F1F3F5"/>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myPolar Pl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myPolar: Traditional ML vs. Neural Models</dc:title>
  <dc:subject>PptxGenJS Presentation</dc:subject>
  <dc:creator>Group 3</dc:creator>
  <cp:lastModifiedBy>Group 3</cp:lastModifiedBy>
  <cp:revision>1</cp:revision>
  <dcterms:created xsi:type="dcterms:W3CDTF">2026-10-11T04:42:22Z</dcterms:created>
  <dcterms:modified xsi:type="dcterms:W3CDTF">2026-10-11T04:42:22Z</dcterms:modified>
</cp:coreProperties>
</file>